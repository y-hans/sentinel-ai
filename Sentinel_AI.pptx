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embeddedFontLst>
    <p:embeddedFont>
      <p:font typeface="Quattrocento Sans"/>
      <p:regular r:id="rId14"/>
      <p:bold r:id="rId15"/>
      <p:italic r:id="rId16"/>
      <p:boldItalic r:id="rId17"/>
    </p:embeddedFont>
    <p:embeddedFont>
      <p:font typeface="Carli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arlito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Carlito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QuattrocentoSans-bold.fntdata"/><Relationship Id="rId14" Type="http://schemas.openxmlformats.org/officeDocument/2006/relationships/font" Target="fonts/QuattrocentoSans-regular.fntdata"/><Relationship Id="rId17" Type="http://schemas.openxmlformats.org/officeDocument/2006/relationships/font" Target="fonts/QuattrocentoSans-boldItalic.fntdata"/><Relationship Id="rId16" Type="http://schemas.openxmlformats.org/officeDocument/2006/relationships/font" Target="fonts/QuattrocentoSans-italic.fntdata"/><Relationship Id="rId5" Type="http://schemas.openxmlformats.org/officeDocument/2006/relationships/slide" Target="slides/slide1.xml"/><Relationship Id="rId19" Type="http://schemas.openxmlformats.org/officeDocument/2006/relationships/font" Target="fonts/Carlito-bold.fntdata"/><Relationship Id="rId6" Type="http://schemas.openxmlformats.org/officeDocument/2006/relationships/slide" Target="slides/slide2.xml"/><Relationship Id="rId18" Type="http://schemas.openxmlformats.org/officeDocument/2006/relationships/font" Target="fonts/Carlito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6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14350" y="457200"/>
            <a:ext cx="7740923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25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3B82F6"/>
                </a:solidFill>
                <a:latin typeface="Courier New"/>
                <a:ea typeface="Courier New"/>
                <a:cs typeface="Courier New"/>
                <a:sym typeface="Courier New"/>
              </a:rPr>
              <a:t>PRIVACY-FIRST ANDROID SECURITY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8269560" y="457200"/>
            <a:ext cx="5201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25"/>
              </a:lnSpc>
              <a:spcBef>
                <a:spcPts val="0"/>
              </a:spcBef>
              <a:spcAft>
                <a:spcPts val="0"/>
              </a:spcAft>
              <a:buClr>
                <a:srgbClr val="8B95A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B95A5"/>
                </a:solidFill>
                <a:latin typeface="Arial"/>
                <a:ea typeface="Arial"/>
                <a:cs typeface="Arial"/>
                <a:sym typeface="Arial"/>
              </a:rPr>
              <a:t>01 / 09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274320" y="1811722"/>
            <a:ext cx="8595360" cy="503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6EAF0"/>
              </a:buClr>
              <a:buSzPts val="3600"/>
              <a:buFont typeface="Carlito"/>
              <a:buNone/>
            </a:pPr>
            <a:r>
              <a:rPr b="1" i="0" lang="en-US" sz="3600" u="none" cap="none" strike="noStrike">
                <a:solidFill>
                  <a:srgbClr val="E6EAF0"/>
                </a:solidFill>
                <a:latin typeface="Carlito"/>
                <a:ea typeface="Carlito"/>
                <a:cs typeface="Carlito"/>
                <a:sym typeface="Carlito"/>
              </a:rPr>
              <a:t>Sentinel AI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274320" y="2435126"/>
            <a:ext cx="8595360" cy="277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687"/>
              <a:buFont typeface="Carlito"/>
              <a:buNone/>
            </a:pPr>
            <a:r>
              <a:rPr b="0" i="0" lang="en-US" sz="1688" u="none" cap="none" strike="noStrike">
                <a:solidFill>
                  <a:srgbClr val="3B82F6"/>
                </a:solidFill>
                <a:latin typeface="Carlito"/>
                <a:ea typeface="Carlito"/>
                <a:cs typeface="Carlito"/>
                <a:sym typeface="Carlito"/>
              </a:rPr>
              <a:t>Real-Time Scam Protection System</a:t>
            </a:r>
            <a:endParaRPr b="0" i="0" sz="16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3041675" y="2849463"/>
            <a:ext cx="3060539" cy="196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5A5"/>
              </a:buClr>
              <a:buSzPts val="956"/>
              <a:buFont typeface="Carlito"/>
              <a:buNone/>
            </a:pPr>
            <a:r>
              <a:rPr b="0" i="0" lang="en-US" sz="956" u="none" cap="none" strike="noStrike">
                <a:solidFill>
                  <a:srgbClr val="8B95A5"/>
                </a:solidFill>
                <a:latin typeface="Carlito"/>
                <a:ea typeface="Carlito"/>
                <a:cs typeface="Carlito"/>
                <a:sym typeface="Carlito"/>
              </a:rPr>
              <a:t>Privacy-first Android app for real-time phishing prevention.</a:t>
            </a:r>
            <a:endParaRPr b="0" i="0" sz="9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400550" y="3317379"/>
            <a:ext cx="342900" cy="142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0" y="4557713"/>
            <a:ext cx="8636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625"/>
              </a:lnSpc>
              <a:spcBef>
                <a:spcPts val="0"/>
              </a:spcBef>
              <a:spcAft>
                <a:spcPts val="0"/>
              </a:spcAft>
              <a:buClr>
                <a:srgbClr val="8B95A5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8B95A5"/>
                </a:solidFill>
                <a:latin typeface="Courier New"/>
                <a:ea typeface="Courier New"/>
                <a:cs typeface="Courier New"/>
                <a:sym typeface="Courier New"/>
              </a:rPr>
              <a:t>ON-DEVICE ML · OFFLINE · CLICK-TIME INTERCEPTION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6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514350" y="457200"/>
            <a:ext cx="7740923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25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3B82F6"/>
                </a:solidFill>
                <a:latin typeface="Courier New"/>
                <a:ea typeface="Courier New"/>
                <a:cs typeface="Courier New"/>
                <a:sym typeface="Courier New"/>
              </a:rPr>
              <a:t>TEAM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8269560" y="457200"/>
            <a:ext cx="5201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25"/>
              </a:lnSpc>
              <a:spcBef>
                <a:spcPts val="0"/>
              </a:spcBef>
              <a:spcAft>
                <a:spcPts val="0"/>
              </a:spcAft>
              <a:buClr>
                <a:srgbClr val="8B95A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B95A5"/>
                </a:solidFill>
                <a:latin typeface="Arial"/>
                <a:ea typeface="Arial"/>
                <a:cs typeface="Arial"/>
                <a:sym typeface="Arial"/>
              </a:rPr>
              <a:t>02 / 09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14350" y="900113"/>
            <a:ext cx="8521065" cy="339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6EAF0"/>
              </a:buClr>
              <a:buSzPts val="2250"/>
              <a:buFont typeface="Carlito"/>
              <a:buNone/>
            </a:pPr>
            <a:r>
              <a:rPr b="1" i="0" lang="en-US" sz="2250" u="none" cap="none" strike="noStrike">
                <a:solidFill>
                  <a:srgbClr val="E6EAF0"/>
                </a:solidFill>
                <a:latin typeface="Carlito"/>
                <a:ea typeface="Carlito"/>
                <a:cs typeface="Carlito"/>
                <a:sym typeface="Carlito"/>
              </a:rPr>
              <a:t>Team </a:t>
            </a:r>
            <a:r>
              <a:rPr b="1" lang="en-US" sz="2250">
                <a:solidFill>
                  <a:srgbClr val="E6EAF0"/>
                </a:solidFill>
                <a:latin typeface="Carlito"/>
                <a:ea typeface="Carlito"/>
                <a:cs typeface="Carlito"/>
                <a:sym typeface="Carlito"/>
              </a:rPr>
              <a:t>CodeBuilders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14350" y="1314450"/>
            <a:ext cx="8115300" cy="196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5A5"/>
              </a:buClr>
              <a:buSzPts val="956"/>
              <a:buFont typeface="Carlito"/>
              <a:buNone/>
            </a:pPr>
            <a:r>
              <a:rPr b="0" i="0" lang="en-US" sz="956" u="none" cap="none" strike="noStrike">
                <a:solidFill>
                  <a:srgbClr val="8B95A5"/>
                </a:solidFill>
                <a:latin typeface="Carlito"/>
                <a:ea typeface="Carlito"/>
                <a:cs typeface="Carlito"/>
                <a:sym typeface="Carlito"/>
              </a:rPr>
              <a:t>A two-member team covering machine learning integration and system design.</a:t>
            </a:r>
            <a:endParaRPr b="0" i="0" sz="9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17925" y="1900250"/>
            <a:ext cx="3964800" cy="1397700"/>
          </a:xfrm>
          <a:prstGeom prst="roundRect">
            <a:avLst>
              <a:gd fmla="val 2739" name="adj"/>
            </a:avLst>
          </a:prstGeom>
          <a:solidFill>
            <a:srgbClr val="1B212B"/>
          </a:solidFill>
          <a:ln cap="flat" cmpd="sng" w="9525">
            <a:solidFill>
              <a:srgbClr val="232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17919" y="1900301"/>
            <a:ext cx="3500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25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750119" y="2694863"/>
            <a:ext cx="35004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51"/>
              </a:lnSpc>
              <a:spcBef>
                <a:spcPts val="0"/>
              </a:spcBef>
              <a:spcAft>
                <a:spcPts val="0"/>
              </a:spcAft>
              <a:buClr>
                <a:srgbClr val="E6EAF0"/>
              </a:buClr>
              <a:buSzPts val="1238"/>
              <a:buFont typeface="Carlito"/>
              <a:buNone/>
            </a:pPr>
            <a:r>
              <a:rPr lang="en-US" sz="1238">
                <a:solidFill>
                  <a:srgbClr val="E6EAF0"/>
                </a:solidFill>
                <a:latin typeface="Carlito"/>
                <a:ea typeface="Carlito"/>
                <a:cs typeface="Carlito"/>
                <a:sym typeface="Carlito"/>
              </a:rPr>
              <a:t>Yajat Hans</a:t>
            </a:r>
            <a:endParaRPr b="0" i="0" sz="12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661300" y="1900250"/>
            <a:ext cx="3964800" cy="1397700"/>
          </a:xfrm>
          <a:prstGeom prst="roundRect">
            <a:avLst>
              <a:gd fmla="val 2739" name="adj"/>
            </a:avLst>
          </a:prstGeom>
          <a:solidFill>
            <a:srgbClr val="1B212B"/>
          </a:solidFill>
          <a:ln cap="flat" cmpd="sng" w="9525">
            <a:solidFill>
              <a:srgbClr val="232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661294" y="1900251"/>
            <a:ext cx="3500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25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769119" y="2694838"/>
            <a:ext cx="35004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51"/>
              </a:lnSpc>
              <a:spcBef>
                <a:spcPts val="0"/>
              </a:spcBef>
              <a:spcAft>
                <a:spcPts val="0"/>
              </a:spcAft>
              <a:buClr>
                <a:srgbClr val="E6EAF0"/>
              </a:buClr>
              <a:buSzPts val="1238"/>
              <a:buFont typeface="Carlito"/>
              <a:buNone/>
            </a:pPr>
            <a:r>
              <a:rPr lang="en-US" sz="1238">
                <a:solidFill>
                  <a:srgbClr val="E6EAF0"/>
                </a:solidFill>
                <a:latin typeface="Carlito"/>
                <a:ea typeface="Carlito"/>
                <a:cs typeface="Carlito"/>
                <a:sym typeface="Carlito"/>
              </a:rPr>
              <a:t>Laksh Rewani</a:t>
            </a:r>
            <a:endParaRPr b="0" i="0" sz="12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17913" y="3528344"/>
            <a:ext cx="3964800" cy="1479900"/>
          </a:xfrm>
          <a:prstGeom prst="roundRect">
            <a:avLst>
              <a:gd fmla="val 2739" name="adj"/>
            </a:avLst>
          </a:prstGeom>
          <a:solidFill>
            <a:srgbClr val="1B212B"/>
          </a:solidFill>
          <a:ln cap="flat" cmpd="sng" w="9525">
            <a:solidFill>
              <a:srgbClr val="232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661288" y="3528344"/>
            <a:ext cx="3964800" cy="1479900"/>
          </a:xfrm>
          <a:prstGeom prst="roundRect">
            <a:avLst>
              <a:gd fmla="val 2739" name="adj"/>
            </a:avLst>
          </a:prstGeom>
          <a:solidFill>
            <a:srgbClr val="1B212B"/>
          </a:solidFill>
          <a:ln cap="flat" cmpd="sng" w="9525">
            <a:solidFill>
              <a:srgbClr val="232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17919" y="3528450"/>
            <a:ext cx="3500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25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800">
                <a:solidFill>
                  <a:srgbClr val="3B82F6"/>
                </a:solidFill>
              </a:rPr>
              <a:t>3</a:t>
            </a:r>
            <a:endParaRPr sz="800">
              <a:solidFill>
                <a:srgbClr val="3B82F6"/>
              </a:solidFill>
            </a:endParaRPr>
          </a:p>
          <a:p>
            <a:pPr indent="0" lvl="0" marL="0" marR="0" rtl="0" algn="l">
              <a:lnSpc>
                <a:spcPct val="126625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Arial"/>
              <a:buNone/>
            </a:pPr>
            <a:r>
              <a:t/>
            </a:r>
            <a:endParaRPr sz="800">
              <a:solidFill>
                <a:srgbClr val="3B82F6"/>
              </a:solidFill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661294" y="3528450"/>
            <a:ext cx="3500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25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800">
                <a:solidFill>
                  <a:srgbClr val="3B82F6"/>
                </a:solidFill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750125" y="4417098"/>
            <a:ext cx="3500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51"/>
              </a:lnSpc>
              <a:spcBef>
                <a:spcPts val="0"/>
              </a:spcBef>
              <a:spcAft>
                <a:spcPts val="0"/>
              </a:spcAft>
              <a:buClr>
                <a:srgbClr val="E6EAF0"/>
              </a:buClr>
              <a:buSzPts val="1238"/>
              <a:buFont typeface="Carlito"/>
              <a:buNone/>
            </a:pPr>
            <a:r>
              <a:rPr lang="en-US" sz="1238">
                <a:solidFill>
                  <a:srgbClr val="E6EAF0"/>
                </a:solidFill>
                <a:latin typeface="Carlito"/>
                <a:ea typeface="Carlito"/>
                <a:cs typeface="Carlito"/>
                <a:sym typeface="Carlito"/>
              </a:rPr>
              <a:t>Gautam Chhatani</a:t>
            </a:r>
            <a:endParaRPr b="0" i="0" sz="12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893494" y="4397588"/>
            <a:ext cx="35004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51"/>
              </a:lnSpc>
              <a:spcBef>
                <a:spcPts val="0"/>
              </a:spcBef>
              <a:spcAft>
                <a:spcPts val="0"/>
              </a:spcAft>
              <a:buClr>
                <a:srgbClr val="E6EAF0"/>
              </a:buClr>
              <a:buSzPts val="1238"/>
              <a:buFont typeface="Carlito"/>
              <a:buNone/>
            </a:pPr>
            <a:r>
              <a:rPr lang="en-US" sz="1238">
                <a:solidFill>
                  <a:srgbClr val="E6EAF0"/>
                </a:solidFill>
                <a:latin typeface="Carlito"/>
                <a:ea typeface="Carlito"/>
                <a:cs typeface="Carlito"/>
                <a:sym typeface="Carlito"/>
              </a:rPr>
              <a:t>Jaydev Israni</a:t>
            </a:r>
            <a:endParaRPr b="0" i="0" sz="12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6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/>
        </p:nvSpPr>
        <p:spPr>
          <a:xfrm>
            <a:off x="514350" y="457200"/>
            <a:ext cx="7740923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25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3B82F6"/>
                </a:solidFill>
                <a:latin typeface="Courier New"/>
                <a:ea typeface="Courier New"/>
                <a:cs typeface="Courier New"/>
                <a:sym typeface="Courier New"/>
              </a:rPr>
              <a:t>PROBLEM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8269560" y="457200"/>
            <a:ext cx="5201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25"/>
              </a:lnSpc>
              <a:spcBef>
                <a:spcPts val="0"/>
              </a:spcBef>
              <a:spcAft>
                <a:spcPts val="0"/>
              </a:spcAft>
              <a:buClr>
                <a:srgbClr val="8B95A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B95A5"/>
                </a:solidFill>
                <a:latin typeface="Arial"/>
                <a:ea typeface="Arial"/>
                <a:cs typeface="Arial"/>
                <a:sym typeface="Arial"/>
              </a:rPr>
              <a:t>03 / 09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514350" y="871538"/>
            <a:ext cx="8521065" cy="339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6EAF0"/>
              </a:buClr>
              <a:buSzPts val="2250"/>
              <a:buFont typeface="Carlito"/>
              <a:buNone/>
            </a:pPr>
            <a:r>
              <a:rPr b="1" i="0" lang="en-US" sz="2250" u="none" cap="none" strike="noStrike">
                <a:solidFill>
                  <a:srgbClr val="E6EAF0"/>
                </a:solidFill>
                <a:latin typeface="Carlito"/>
                <a:ea typeface="Carlito"/>
                <a:cs typeface="Carlito"/>
                <a:sym typeface="Carlito"/>
              </a:rPr>
              <a:t>Problem Statement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514350" y="1285875"/>
            <a:ext cx="7000875" cy="196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5A5"/>
              </a:buClr>
              <a:buSzPts val="956"/>
              <a:buFont typeface="Carlito"/>
              <a:buNone/>
            </a:pPr>
            <a:r>
              <a:rPr b="0" i="0" lang="en-US" sz="956" u="none" cap="none" strike="noStrike">
                <a:solidFill>
                  <a:srgbClr val="8B95A5"/>
                </a:solidFill>
                <a:latin typeface="Carlito"/>
                <a:ea typeface="Carlito"/>
                <a:cs typeface="Carlito"/>
                <a:sym typeface="Carlito"/>
              </a:rPr>
              <a:t>Existing protections activate too late — after the user has already interacted with a malicious link.</a:t>
            </a:r>
            <a:endParaRPr b="0" i="0" sz="9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" name="Google Shape;53;p5"/>
          <p:cNvCxnSpPr/>
          <p:nvPr/>
        </p:nvCxnSpPr>
        <p:spPr>
          <a:xfrm>
            <a:off x="514350" y="1785938"/>
            <a:ext cx="8115300" cy="0"/>
          </a:xfrm>
          <a:prstGeom prst="straightConnector1">
            <a:avLst/>
          </a:prstGeom>
          <a:noFill/>
          <a:ln cap="flat" cmpd="sng" w="9525">
            <a:solidFill>
              <a:srgbClr val="232A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" name="Google Shape;54;p5"/>
          <p:cNvCxnSpPr/>
          <p:nvPr/>
        </p:nvCxnSpPr>
        <p:spPr>
          <a:xfrm>
            <a:off x="514350" y="2289572"/>
            <a:ext cx="8115300" cy="0"/>
          </a:xfrm>
          <a:prstGeom prst="straightConnector1">
            <a:avLst/>
          </a:prstGeom>
          <a:noFill/>
          <a:ln cap="flat" cmpd="sng" w="9525">
            <a:solidFill>
              <a:srgbClr val="232A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" name="Google Shape;55;p5"/>
          <p:cNvSpPr/>
          <p:nvPr/>
        </p:nvSpPr>
        <p:spPr>
          <a:xfrm>
            <a:off x="514350" y="1946672"/>
            <a:ext cx="731520" cy="182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6"/>
              <a:buFont typeface="Arial"/>
              <a:buNone/>
            </a:pPr>
            <a:r>
              <a:rPr b="0" i="0" lang="en-US" sz="956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9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971550" y="1952699"/>
            <a:ext cx="7658100" cy="176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62"/>
              </a:lnSpc>
              <a:spcBef>
                <a:spcPts val="0"/>
              </a:spcBef>
              <a:spcAft>
                <a:spcPts val="0"/>
              </a:spcAft>
              <a:buClr>
                <a:srgbClr val="E6EAF0"/>
              </a:buClr>
              <a:buSzPts val="956"/>
              <a:buFont typeface="Carlito"/>
              <a:buNone/>
            </a:pPr>
            <a:r>
              <a:rPr b="0" i="0" lang="en-US" sz="956" u="none" cap="none" strike="noStrike">
                <a:solidFill>
                  <a:srgbClr val="E6EAF0"/>
                </a:solidFill>
                <a:latin typeface="Carlito"/>
                <a:ea typeface="Carlito"/>
                <a:cs typeface="Carlito"/>
                <a:sym typeface="Carlito"/>
              </a:rPr>
              <a:t>Phishing attacks are increasing rapidly.</a:t>
            </a:r>
            <a:endParaRPr b="0" i="0" sz="9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" name="Google Shape;57;p5"/>
          <p:cNvCxnSpPr/>
          <p:nvPr/>
        </p:nvCxnSpPr>
        <p:spPr>
          <a:xfrm>
            <a:off x="514350" y="2793206"/>
            <a:ext cx="8115300" cy="0"/>
          </a:xfrm>
          <a:prstGeom prst="straightConnector1">
            <a:avLst/>
          </a:prstGeom>
          <a:noFill/>
          <a:ln cap="flat" cmpd="sng" w="9525">
            <a:solidFill>
              <a:srgbClr val="232A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5"/>
          <p:cNvSpPr/>
          <p:nvPr/>
        </p:nvSpPr>
        <p:spPr>
          <a:xfrm>
            <a:off x="514350" y="2450306"/>
            <a:ext cx="731520" cy="182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6"/>
              <a:buFont typeface="Arial"/>
              <a:buNone/>
            </a:pPr>
            <a:r>
              <a:rPr b="0" i="0" lang="en-US" sz="956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9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971550" y="2456334"/>
            <a:ext cx="7658100" cy="176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62"/>
              </a:lnSpc>
              <a:spcBef>
                <a:spcPts val="0"/>
              </a:spcBef>
              <a:spcAft>
                <a:spcPts val="0"/>
              </a:spcAft>
              <a:buClr>
                <a:srgbClr val="E6EAF0"/>
              </a:buClr>
              <a:buSzPts val="956"/>
              <a:buFont typeface="Carlito"/>
              <a:buNone/>
            </a:pPr>
            <a:r>
              <a:rPr b="0" i="0" lang="en-US" sz="956" u="none" cap="none" strike="noStrike">
                <a:solidFill>
                  <a:srgbClr val="E6EAF0"/>
                </a:solidFill>
                <a:latin typeface="Carlito"/>
                <a:ea typeface="Carlito"/>
                <a:cs typeface="Carlito"/>
                <a:sym typeface="Carlito"/>
              </a:rPr>
              <a:t>Users unknowingly click malicious links.</a:t>
            </a:r>
            <a:endParaRPr b="0" i="0" sz="9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" name="Google Shape;60;p5"/>
          <p:cNvCxnSpPr/>
          <p:nvPr/>
        </p:nvCxnSpPr>
        <p:spPr>
          <a:xfrm>
            <a:off x="514350" y="3296841"/>
            <a:ext cx="8115300" cy="0"/>
          </a:xfrm>
          <a:prstGeom prst="straightConnector1">
            <a:avLst/>
          </a:prstGeom>
          <a:noFill/>
          <a:ln cap="flat" cmpd="sng" w="9525">
            <a:solidFill>
              <a:srgbClr val="232A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5"/>
          <p:cNvSpPr/>
          <p:nvPr/>
        </p:nvSpPr>
        <p:spPr>
          <a:xfrm>
            <a:off x="514350" y="2953941"/>
            <a:ext cx="731520" cy="182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6"/>
              <a:buFont typeface="Arial"/>
              <a:buNone/>
            </a:pPr>
            <a:r>
              <a:rPr b="0" i="0" lang="en-US" sz="956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9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971550" y="2959968"/>
            <a:ext cx="7658100" cy="176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62"/>
              </a:lnSpc>
              <a:spcBef>
                <a:spcPts val="0"/>
              </a:spcBef>
              <a:spcAft>
                <a:spcPts val="0"/>
              </a:spcAft>
              <a:buClr>
                <a:srgbClr val="E6EAF0"/>
              </a:buClr>
              <a:buSzPts val="956"/>
              <a:buFont typeface="Carlito"/>
              <a:buNone/>
            </a:pPr>
            <a:r>
              <a:rPr b="0" i="0" lang="en-US" sz="956" u="none" cap="none" strike="noStrike">
                <a:solidFill>
                  <a:srgbClr val="E6EAF0"/>
                </a:solidFill>
                <a:latin typeface="Carlito"/>
                <a:ea typeface="Carlito"/>
                <a:cs typeface="Carlito"/>
                <a:sym typeface="Carlito"/>
              </a:rPr>
              <a:t>Existing systems detect threats after interaction.</a:t>
            </a:r>
            <a:endParaRPr b="0" i="0" sz="9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" name="Google Shape;63;p5"/>
          <p:cNvCxnSpPr/>
          <p:nvPr/>
        </p:nvCxnSpPr>
        <p:spPr>
          <a:xfrm>
            <a:off x="514350" y="3800475"/>
            <a:ext cx="8115300" cy="0"/>
          </a:xfrm>
          <a:prstGeom prst="straightConnector1">
            <a:avLst/>
          </a:prstGeom>
          <a:noFill/>
          <a:ln cap="flat" cmpd="sng" w="9525">
            <a:solidFill>
              <a:srgbClr val="232A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" name="Google Shape;64;p5"/>
          <p:cNvSpPr/>
          <p:nvPr/>
        </p:nvSpPr>
        <p:spPr>
          <a:xfrm>
            <a:off x="514350" y="3457575"/>
            <a:ext cx="731520" cy="182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6"/>
              <a:buFont typeface="Arial"/>
              <a:buNone/>
            </a:pPr>
            <a:r>
              <a:rPr b="0" i="0" lang="en-US" sz="956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9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971550" y="3463603"/>
            <a:ext cx="7658100" cy="176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62"/>
              </a:lnSpc>
              <a:spcBef>
                <a:spcPts val="0"/>
              </a:spcBef>
              <a:spcAft>
                <a:spcPts val="0"/>
              </a:spcAft>
              <a:buClr>
                <a:srgbClr val="E6EAF0"/>
              </a:buClr>
              <a:buSzPts val="956"/>
              <a:buFont typeface="Carlito"/>
              <a:buNone/>
            </a:pPr>
            <a:r>
              <a:rPr b="0" i="0" lang="en-US" sz="956" u="none" cap="none" strike="noStrike">
                <a:solidFill>
                  <a:srgbClr val="E6EAF0"/>
                </a:solidFill>
                <a:latin typeface="Carlito"/>
                <a:ea typeface="Carlito"/>
                <a:cs typeface="Carlito"/>
                <a:sym typeface="Carlito"/>
              </a:rPr>
              <a:t>Damage occurs before protection activates.</a:t>
            </a:r>
            <a:endParaRPr b="0" i="0" sz="9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6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/>
          <p:nvPr/>
        </p:nvSpPr>
        <p:spPr>
          <a:xfrm>
            <a:off x="514350" y="457200"/>
            <a:ext cx="7740923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25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3B82F6"/>
                </a:solidFill>
                <a:latin typeface="Courier New"/>
                <a:ea typeface="Courier New"/>
                <a:cs typeface="Courier New"/>
                <a:sym typeface="Courier New"/>
              </a:rPr>
              <a:t>SOLUTION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8269560" y="457200"/>
            <a:ext cx="5201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25"/>
              </a:lnSpc>
              <a:spcBef>
                <a:spcPts val="0"/>
              </a:spcBef>
              <a:spcAft>
                <a:spcPts val="0"/>
              </a:spcAft>
              <a:buClr>
                <a:srgbClr val="8B95A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B95A5"/>
                </a:solidFill>
                <a:latin typeface="Arial"/>
                <a:ea typeface="Arial"/>
                <a:cs typeface="Arial"/>
                <a:sym typeface="Arial"/>
              </a:rPr>
              <a:t>04 / 09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514350" y="871538"/>
            <a:ext cx="8521065" cy="339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6EAF0"/>
              </a:buClr>
              <a:buSzPts val="2250"/>
              <a:buFont typeface="Carlito"/>
              <a:buNone/>
            </a:pPr>
            <a:r>
              <a:rPr b="1" i="0" lang="en-US" sz="2250" u="none" cap="none" strike="noStrike">
                <a:solidFill>
                  <a:srgbClr val="E6EAF0"/>
                </a:solidFill>
                <a:latin typeface="Carlito"/>
                <a:ea typeface="Carlito"/>
                <a:cs typeface="Carlito"/>
                <a:sym typeface="Carlito"/>
              </a:rPr>
              <a:t>Proposed Solution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514350" y="1314450"/>
            <a:ext cx="7429500" cy="601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53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687"/>
              <a:buFont typeface="Carlito"/>
              <a:buNone/>
            </a:pPr>
            <a:r>
              <a:rPr b="0" i="0" lang="en-US" sz="1688" u="none" cap="none" strike="noStrike">
                <a:solidFill>
                  <a:srgbClr val="3B82F6"/>
                </a:solidFill>
                <a:latin typeface="Carlito"/>
                <a:ea typeface="Carlito"/>
                <a:cs typeface="Carlito"/>
                <a:sym typeface="Carlito"/>
              </a:rPr>
              <a:t>Sentinel AI provides real-time prevention — blocking threats before the user ever reaches a malicious page.</a:t>
            </a:r>
            <a:endParaRPr b="0" i="0" sz="16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514350" y="2071688"/>
            <a:ext cx="8115300" cy="7144"/>
          </a:xfrm>
          <a:prstGeom prst="rect">
            <a:avLst/>
          </a:prstGeom>
          <a:solidFill>
            <a:srgbClr val="232A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" name="Google Shape;76;p6"/>
          <p:cNvCxnSpPr/>
          <p:nvPr/>
        </p:nvCxnSpPr>
        <p:spPr>
          <a:xfrm>
            <a:off x="514350" y="2836069"/>
            <a:ext cx="8115300" cy="0"/>
          </a:xfrm>
          <a:prstGeom prst="straightConnector1">
            <a:avLst/>
          </a:prstGeom>
          <a:noFill/>
          <a:ln cap="flat" cmpd="sng" w="9525">
            <a:solidFill>
              <a:srgbClr val="232A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6"/>
          <p:cNvSpPr/>
          <p:nvPr/>
        </p:nvSpPr>
        <p:spPr>
          <a:xfrm>
            <a:off x="514350" y="2478881"/>
            <a:ext cx="411480" cy="182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6"/>
              <a:buFont typeface="Arial"/>
              <a:buNone/>
            </a:pPr>
            <a:r>
              <a:rPr b="0" i="0" lang="en-US" sz="956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9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942975" y="2478881"/>
            <a:ext cx="7686675" cy="182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6EAF0"/>
              </a:buClr>
              <a:buSzPts val="956"/>
              <a:buFont typeface="Carlito"/>
              <a:buNone/>
            </a:pPr>
            <a:r>
              <a:rPr b="0" i="0" lang="en-US" sz="956" u="none" cap="none" strike="noStrike">
                <a:solidFill>
                  <a:srgbClr val="E6EAF0"/>
                </a:solidFill>
                <a:latin typeface="Carlito"/>
                <a:ea typeface="Carlito"/>
                <a:cs typeface="Carlito"/>
                <a:sym typeface="Carlito"/>
              </a:rPr>
              <a:t>Intercept at click-time</a:t>
            </a:r>
            <a:r>
              <a:rPr b="0" i="0" lang="en-US" sz="956" u="none" cap="none" strike="noStrike">
                <a:solidFill>
                  <a:srgbClr val="8B95A5"/>
                </a:solidFill>
                <a:latin typeface="Carlito"/>
                <a:ea typeface="Carlito"/>
                <a:cs typeface="Carlito"/>
                <a:sym typeface="Carlito"/>
              </a:rPr>
              <a:t>—captures the URL the moment the user taps a link, before any network call.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" name="Google Shape;79;p6"/>
          <p:cNvCxnSpPr/>
          <p:nvPr/>
        </p:nvCxnSpPr>
        <p:spPr>
          <a:xfrm>
            <a:off x="514350" y="3368278"/>
            <a:ext cx="8115300" cy="0"/>
          </a:xfrm>
          <a:prstGeom prst="straightConnector1">
            <a:avLst/>
          </a:prstGeom>
          <a:noFill/>
          <a:ln cap="flat" cmpd="sng" w="9525">
            <a:solidFill>
              <a:srgbClr val="232A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6"/>
          <p:cNvSpPr/>
          <p:nvPr/>
        </p:nvSpPr>
        <p:spPr>
          <a:xfrm>
            <a:off x="514350" y="3011091"/>
            <a:ext cx="411480" cy="182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6"/>
              <a:buFont typeface="Arial"/>
              <a:buNone/>
            </a:pPr>
            <a:r>
              <a:rPr b="0" i="0" lang="en-US" sz="956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9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942975" y="3011091"/>
            <a:ext cx="7686675" cy="182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6EAF0"/>
              </a:buClr>
              <a:buSzPts val="956"/>
              <a:buFont typeface="Carlito"/>
              <a:buNone/>
            </a:pPr>
            <a:r>
              <a:rPr b="0" i="0" lang="en-US" sz="956" u="none" cap="none" strike="noStrike">
                <a:solidFill>
                  <a:srgbClr val="E6EAF0"/>
                </a:solidFill>
                <a:latin typeface="Carlito"/>
                <a:ea typeface="Carlito"/>
                <a:cs typeface="Carlito"/>
                <a:sym typeface="Carlito"/>
              </a:rPr>
              <a:t>Analyze instantly using ML</a:t>
            </a:r>
            <a:r>
              <a:rPr b="0" i="0" lang="en-US" sz="956" u="none" cap="none" strike="noStrike">
                <a:solidFill>
                  <a:srgbClr val="8B95A5"/>
                </a:solidFill>
                <a:latin typeface="Carlito"/>
                <a:ea typeface="Carlito"/>
                <a:cs typeface="Carlito"/>
                <a:sym typeface="Carlito"/>
              </a:rPr>
              <a:t>—runs a TensorFlow Lite model on-device to score risk in milliseconds.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514350" y="3543300"/>
            <a:ext cx="411480" cy="196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6"/>
              <a:buFont typeface="Arial"/>
              <a:buNone/>
            </a:pPr>
            <a:r>
              <a:rPr b="0" i="0" lang="en-US" sz="956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9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942975" y="3543300"/>
            <a:ext cx="7686675" cy="196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6EAF0"/>
              </a:buClr>
              <a:buSzPts val="956"/>
              <a:buFont typeface="Carlito"/>
              <a:buNone/>
            </a:pPr>
            <a:r>
              <a:rPr b="0" i="0" lang="en-US" sz="956" u="none" cap="none" strike="noStrike">
                <a:solidFill>
                  <a:srgbClr val="E6EAF0"/>
                </a:solidFill>
                <a:latin typeface="Carlito"/>
                <a:ea typeface="Carlito"/>
                <a:cs typeface="Carlito"/>
                <a:sym typeface="Carlito"/>
              </a:rPr>
              <a:t>Block or warn before interaction</a:t>
            </a:r>
            <a:r>
              <a:rPr b="0" i="0" lang="en-US" sz="956" u="none" cap="none" strike="noStrike">
                <a:solidFill>
                  <a:srgbClr val="8B95A5"/>
                </a:solidFill>
                <a:latin typeface="Carlito"/>
                <a:ea typeface="Carlito"/>
                <a:cs typeface="Carlito"/>
                <a:sym typeface="Carlito"/>
              </a:rPr>
              <a:t>—decides Allow / Warn / Block based on the risk score.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6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"/>
          <p:cNvSpPr/>
          <p:nvPr/>
        </p:nvSpPr>
        <p:spPr>
          <a:xfrm>
            <a:off x="514350" y="457200"/>
            <a:ext cx="7740923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25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3B82F6"/>
                </a:solidFill>
                <a:latin typeface="Courier New"/>
                <a:ea typeface="Courier New"/>
                <a:cs typeface="Courier New"/>
                <a:sym typeface="Courier New"/>
              </a:rPr>
              <a:t>ARCHITECTURE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8269560" y="457200"/>
            <a:ext cx="5201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25"/>
              </a:lnSpc>
              <a:spcBef>
                <a:spcPts val="0"/>
              </a:spcBef>
              <a:spcAft>
                <a:spcPts val="0"/>
              </a:spcAft>
              <a:buClr>
                <a:srgbClr val="8B95A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B95A5"/>
                </a:solidFill>
                <a:latin typeface="Arial"/>
                <a:ea typeface="Arial"/>
                <a:cs typeface="Arial"/>
                <a:sym typeface="Arial"/>
              </a:rPr>
              <a:t>05 / 09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514350" y="842963"/>
            <a:ext cx="8521065" cy="339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6EAF0"/>
              </a:buClr>
              <a:buSzPts val="2250"/>
              <a:buFont typeface="Carlito"/>
              <a:buNone/>
            </a:pPr>
            <a:r>
              <a:rPr b="1" i="0" lang="en-US" sz="2250" u="none" cap="none" strike="noStrike">
                <a:solidFill>
                  <a:srgbClr val="E6EAF0"/>
                </a:solidFill>
                <a:latin typeface="Carlito"/>
                <a:ea typeface="Carlito"/>
                <a:cs typeface="Carlito"/>
                <a:sym typeface="Carlito"/>
              </a:rPr>
              <a:t>System Architecture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514350" y="1243013"/>
            <a:ext cx="7000875" cy="196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5A5"/>
              </a:buClr>
              <a:buSzPts val="956"/>
              <a:buFont typeface="Carlito"/>
              <a:buNone/>
            </a:pPr>
            <a:r>
              <a:rPr b="0" i="0" lang="en-US" sz="956" u="none" cap="none" strike="noStrike">
                <a:solidFill>
                  <a:srgbClr val="8B95A5"/>
                </a:solidFill>
                <a:latin typeface="Carlito"/>
                <a:ea typeface="Carlito"/>
                <a:cs typeface="Carlito"/>
                <a:sym typeface="Carlito"/>
              </a:rPr>
              <a:t>A click-time pipeline that runs entirely on-device, with no network dependency.</a:t>
            </a:r>
            <a:endParaRPr b="0" i="0" sz="9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496491" y="1714500"/>
            <a:ext cx="1350169" cy="827559"/>
          </a:xfrm>
          <a:prstGeom prst="roundRect">
            <a:avLst>
              <a:gd fmla="val 9208" name="adj"/>
            </a:avLst>
          </a:prstGeom>
          <a:solidFill>
            <a:srgbClr val="1B212B"/>
          </a:solidFill>
          <a:ln cap="flat" cmpd="sng" w="9525">
            <a:solidFill>
              <a:srgbClr val="232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614363" y="1860947"/>
            <a:ext cx="1114425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25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614363" y="2060972"/>
            <a:ext cx="1114425" cy="163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AF0"/>
              </a:buClr>
              <a:buSzPts val="956"/>
              <a:buFont typeface="Carlito"/>
              <a:buNone/>
            </a:pPr>
            <a:r>
              <a:rPr b="0" i="0" lang="en-US" sz="956" u="none" cap="none" strike="noStrike">
                <a:solidFill>
                  <a:srgbClr val="E6EAF0"/>
                </a:solidFill>
                <a:latin typeface="Carlito"/>
                <a:ea typeface="Carlito"/>
                <a:cs typeface="Carlito"/>
                <a:sym typeface="Carlito"/>
              </a:rPr>
              <a:t>User Action</a:t>
            </a:r>
            <a:endParaRPr b="0" i="0" sz="9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614363" y="2284214"/>
            <a:ext cx="1114425" cy="111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25"/>
              </a:lnSpc>
              <a:spcBef>
                <a:spcPts val="0"/>
              </a:spcBef>
              <a:spcAft>
                <a:spcPts val="0"/>
              </a:spcAft>
              <a:buClr>
                <a:srgbClr val="8B95A5"/>
              </a:buClr>
              <a:buSzPts val="800"/>
              <a:buFont typeface="Carlito"/>
              <a:buNone/>
            </a:pPr>
            <a:r>
              <a:rPr b="0" i="0" lang="en-US" sz="800" u="none" cap="none" strike="noStrike">
                <a:solidFill>
                  <a:srgbClr val="8B95A5"/>
                </a:solidFill>
                <a:latin typeface="Carlito"/>
                <a:ea typeface="Carlito"/>
                <a:cs typeface="Carlito"/>
                <a:sym typeface="Carlito"/>
              </a:rPr>
              <a:t>tap a link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1850231" y="2021123"/>
            <a:ext cx="3429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A5"/>
              </a:buClr>
              <a:buSzPts val="1125"/>
              <a:buFont typeface="Quattrocento Sans"/>
              <a:buNone/>
            </a:pPr>
            <a:r>
              <a:rPr b="0" i="0" lang="en-US" sz="1125" u="none" cap="none" strike="noStrike">
                <a:solidFill>
                  <a:srgbClr val="8B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2196703" y="1714500"/>
            <a:ext cx="1350169" cy="827559"/>
          </a:xfrm>
          <a:prstGeom prst="roundRect">
            <a:avLst>
              <a:gd fmla="val 9208" name="adj"/>
            </a:avLst>
          </a:prstGeom>
          <a:solidFill>
            <a:srgbClr val="1B212B"/>
          </a:solidFill>
          <a:ln cap="flat" cmpd="sng" w="9525">
            <a:solidFill>
              <a:srgbClr val="232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2314575" y="1860947"/>
            <a:ext cx="1114425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25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2314575" y="2060972"/>
            <a:ext cx="1114425" cy="163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AF0"/>
              </a:buClr>
              <a:buSzPts val="956"/>
              <a:buFont typeface="Carlito"/>
              <a:buNone/>
            </a:pPr>
            <a:r>
              <a:rPr b="0" i="0" lang="en-US" sz="956" u="none" cap="none" strike="noStrike">
                <a:solidFill>
                  <a:srgbClr val="E6EAF0"/>
                </a:solidFill>
                <a:latin typeface="Carlito"/>
                <a:ea typeface="Carlito"/>
                <a:cs typeface="Carlito"/>
                <a:sym typeface="Carlito"/>
              </a:rPr>
              <a:t>Intent Interception</a:t>
            </a:r>
            <a:endParaRPr b="0" i="0" sz="9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2314575" y="2284214"/>
            <a:ext cx="1114425" cy="111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Clr>
                <a:srgbClr val="8B95A5"/>
              </a:buClr>
              <a:buSzPts val="675"/>
              <a:buFont typeface="Carlito"/>
              <a:buNone/>
            </a:pPr>
            <a:r>
              <a:rPr b="0" i="0" lang="en-US" sz="675" u="none" cap="none" strike="noStrike">
                <a:solidFill>
                  <a:srgbClr val="8B95A5"/>
                </a:solidFill>
                <a:latin typeface="Carlito"/>
                <a:ea typeface="Carlito"/>
                <a:cs typeface="Carlito"/>
                <a:sym typeface="Carlito"/>
              </a:rPr>
              <a:t>capture URL at click-time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3550444" y="2021123"/>
            <a:ext cx="3429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A5"/>
              </a:buClr>
              <a:buSzPts val="1125"/>
              <a:buFont typeface="Quattrocento Sans"/>
              <a:buNone/>
            </a:pPr>
            <a:r>
              <a:rPr b="0" i="0" lang="en-US" sz="1125" u="none" cap="none" strike="noStrike">
                <a:solidFill>
                  <a:srgbClr val="8B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3896916" y="1714500"/>
            <a:ext cx="1350169" cy="827559"/>
          </a:xfrm>
          <a:prstGeom prst="roundRect">
            <a:avLst>
              <a:gd fmla="val 9208" name="adj"/>
            </a:avLst>
          </a:prstGeom>
          <a:solidFill>
            <a:srgbClr val="1B212B"/>
          </a:solidFill>
          <a:ln cap="flat" cmpd="sng" w="9525">
            <a:solidFill>
              <a:srgbClr val="232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4014788" y="1860947"/>
            <a:ext cx="1114425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25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4014788" y="2060972"/>
            <a:ext cx="1114425" cy="163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AF0"/>
              </a:buClr>
              <a:buSzPts val="956"/>
              <a:buFont typeface="Carlito"/>
              <a:buNone/>
            </a:pPr>
            <a:r>
              <a:rPr b="0" i="0" lang="en-US" sz="956" u="none" cap="none" strike="noStrike">
                <a:solidFill>
                  <a:srgbClr val="E6EAF0"/>
                </a:solidFill>
                <a:latin typeface="Carlito"/>
                <a:ea typeface="Carlito"/>
                <a:cs typeface="Carlito"/>
                <a:sym typeface="Carlito"/>
              </a:rPr>
              <a:t>Feature Extraction</a:t>
            </a:r>
            <a:endParaRPr b="0" i="0" sz="9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4014788" y="2284214"/>
            <a:ext cx="1181291" cy="111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Clr>
                <a:srgbClr val="8B95A5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8B95A5"/>
                </a:solidFill>
                <a:latin typeface="Arial"/>
                <a:ea typeface="Arial"/>
                <a:cs typeface="Arial"/>
                <a:sym typeface="Arial"/>
              </a:rPr>
              <a:t>15 engineered URL features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5250656" y="2021123"/>
            <a:ext cx="3429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A5"/>
              </a:buClr>
              <a:buSzPts val="1125"/>
              <a:buFont typeface="Quattrocento Sans"/>
              <a:buNone/>
            </a:pPr>
            <a:r>
              <a:rPr b="0" i="0" lang="en-US" sz="1125" u="none" cap="none" strike="noStrike">
                <a:solidFill>
                  <a:srgbClr val="8B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5597128" y="1714500"/>
            <a:ext cx="1350169" cy="827559"/>
          </a:xfrm>
          <a:prstGeom prst="roundRect">
            <a:avLst>
              <a:gd fmla="val 9208" name="adj"/>
            </a:avLst>
          </a:prstGeom>
          <a:solidFill>
            <a:srgbClr val="1B212B"/>
          </a:solidFill>
          <a:ln cap="flat" cmpd="sng" w="9525">
            <a:solidFill>
              <a:srgbClr val="232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5715000" y="1860947"/>
            <a:ext cx="1114425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25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5715000" y="2060972"/>
            <a:ext cx="1114425" cy="163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AF0"/>
              </a:buClr>
              <a:buSzPts val="956"/>
              <a:buFont typeface="Carlito"/>
              <a:buNone/>
            </a:pPr>
            <a:r>
              <a:rPr b="0" i="0" lang="en-US" sz="956" u="none" cap="none" strike="noStrike">
                <a:solidFill>
                  <a:srgbClr val="E6EAF0"/>
                </a:solidFill>
                <a:latin typeface="Carlito"/>
                <a:ea typeface="Carlito"/>
                <a:cs typeface="Carlito"/>
                <a:sym typeface="Carlito"/>
              </a:rPr>
              <a:t>ML Model (TFLite)</a:t>
            </a:r>
            <a:endParaRPr b="0" i="0" sz="9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5715000" y="2284214"/>
            <a:ext cx="1114425" cy="111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25"/>
              </a:lnSpc>
              <a:spcBef>
                <a:spcPts val="0"/>
              </a:spcBef>
              <a:spcAft>
                <a:spcPts val="0"/>
              </a:spcAft>
              <a:buClr>
                <a:srgbClr val="8B95A5"/>
              </a:buClr>
              <a:buSzPts val="800"/>
              <a:buFont typeface="Carlito"/>
              <a:buNone/>
            </a:pPr>
            <a:r>
              <a:rPr b="0" i="0" lang="en-US" sz="800" u="none" cap="none" strike="noStrike">
                <a:solidFill>
                  <a:srgbClr val="8B95A5"/>
                </a:solidFill>
                <a:latin typeface="Carlito"/>
                <a:ea typeface="Carlito"/>
                <a:cs typeface="Carlito"/>
                <a:sym typeface="Carlito"/>
              </a:rPr>
              <a:t>on-device inference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6950869" y="2021123"/>
            <a:ext cx="3429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5A5"/>
              </a:buClr>
              <a:buSzPts val="1125"/>
              <a:buFont typeface="Quattrocento Sans"/>
              <a:buNone/>
            </a:pPr>
            <a:r>
              <a:rPr b="0" i="0" lang="en-US" sz="1125" u="none" cap="none" strike="noStrike">
                <a:solidFill>
                  <a:srgbClr val="8B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7297341" y="1714500"/>
            <a:ext cx="1350169" cy="827559"/>
          </a:xfrm>
          <a:prstGeom prst="roundRect">
            <a:avLst>
              <a:gd fmla="val 9208" name="adj"/>
            </a:avLst>
          </a:prstGeom>
          <a:solidFill>
            <a:srgbClr val="1B212B"/>
          </a:solidFill>
          <a:ln cap="flat" cmpd="sng" w="9525">
            <a:solidFill>
              <a:srgbClr val="232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7415213" y="1860947"/>
            <a:ext cx="1114425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25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7415213" y="2060972"/>
            <a:ext cx="1114425" cy="163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6EAF0"/>
              </a:buClr>
              <a:buSzPts val="956"/>
              <a:buFont typeface="Carlito"/>
              <a:buNone/>
            </a:pPr>
            <a:r>
              <a:rPr b="0" i="0" lang="en-US" sz="956" u="none" cap="none" strike="noStrike">
                <a:solidFill>
                  <a:srgbClr val="E6EAF0"/>
                </a:solidFill>
                <a:latin typeface="Carlito"/>
                <a:ea typeface="Carlito"/>
                <a:cs typeface="Carlito"/>
                <a:sym typeface="Carlito"/>
              </a:rPr>
              <a:t>Risk Score</a:t>
            </a:r>
            <a:endParaRPr b="0" i="0" sz="9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7415213" y="2284214"/>
            <a:ext cx="1114425" cy="111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25"/>
              </a:lnSpc>
              <a:spcBef>
                <a:spcPts val="0"/>
              </a:spcBef>
              <a:spcAft>
                <a:spcPts val="0"/>
              </a:spcAft>
              <a:buClr>
                <a:srgbClr val="8B95A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B95A5"/>
                </a:solidFill>
                <a:latin typeface="Arial"/>
                <a:ea typeface="Arial"/>
                <a:cs typeface="Arial"/>
                <a:sym typeface="Arial"/>
              </a:rPr>
              <a:t>0 →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514350" y="2831381"/>
            <a:ext cx="862965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25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3B82F6"/>
                </a:solidFill>
                <a:latin typeface="Courier New"/>
                <a:ea typeface="Courier New"/>
                <a:cs typeface="Courier New"/>
                <a:sym typeface="Courier New"/>
              </a:rPr>
              <a:t>DECISION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517922" y="3063553"/>
            <a:ext cx="2602669" cy="417909"/>
          </a:xfrm>
          <a:prstGeom prst="roundRect">
            <a:avLst>
              <a:gd fmla="val 18234" name="adj"/>
            </a:avLst>
          </a:prstGeom>
          <a:solidFill>
            <a:srgbClr val="10B981">
              <a:alpha val="12157"/>
            </a:srgbClr>
          </a:solidFill>
          <a:ln cap="flat" cmpd="sng" w="95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514350" y="3059981"/>
            <a:ext cx="2609813" cy="459057"/>
          </a:xfrm>
          <a:prstGeom prst="rect">
            <a:avLst/>
          </a:prstGeom>
          <a:noFill/>
          <a:ln>
            <a:noFill/>
          </a:ln>
        </p:spPr>
        <p:txBody>
          <a:bodyPr anchorCtr="0" anchor="t" bIns="114300" lIns="142875" spcFirstLastPara="1" rIns="142875" wrap="square" tIns="1143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6"/>
              <a:buFont typeface="Courier New"/>
              <a:buNone/>
            </a:pPr>
            <a:r>
              <a:rPr b="0" i="0" lang="en-US" sz="956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ALLOW</a:t>
            </a:r>
            <a:endParaRPr b="0" i="0" sz="9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3270610" y="3063553"/>
            <a:ext cx="2602669" cy="417909"/>
          </a:xfrm>
          <a:prstGeom prst="roundRect">
            <a:avLst>
              <a:gd fmla="val 18234" name="adj"/>
            </a:avLst>
          </a:prstGeom>
          <a:solidFill>
            <a:srgbClr val="F59E0B">
              <a:alpha val="12157"/>
            </a:srgbClr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3267038" y="3059981"/>
            <a:ext cx="2609813" cy="459057"/>
          </a:xfrm>
          <a:prstGeom prst="rect">
            <a:avLst/>
          </a:prstGeom>
          <a:noFill/>
          <a:ln>
            <a:noFill/>
          </a:ln>
        </p:spPr>
        <p:txBody>
          <a:bodyPr anchorCtr="0" anchor="t" bIns="114300" lIns="142875" spcFirstLastPara="1" rIns="142875" wrap="square" tIns="1143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6"/>
              <a:buFont typeface="Courier New"/>
              <a:buNone/>
            </a:pPr>
            <a:r>
              <a:rPr b="0" i="0" lang="en-US" sz="956" u="none" cap="none" strike="noStrike">
                <a:solidFill>
                  <a:srgbClr val="F59E0B"/>
                </a:solidFill>
                <a:latin typeface="Courier New"/>
                <a:ea typeface="Courier New"/>
                <a:cs typeface="Courier New"/>
                <a:sym typeface="Courier New"/>
              </a:rPr>
              <a:t>WARN</a:t>
            </a:r>
            <a:endParaRPr b="0" i="0" sz="9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6023297" y="3063553"/>
            <a:ext cx="2602781" cy="417909"/>
          </a:xfrm>
          <a:prstGeom prst="roundRect">
            <a:avLst>
              <a:gd fmla="val 18234" name="adj"/>
            </a:avLst>
          </a:prstGeom>
          <a:solidFill>
            <a:srgbClr val="EF4444">
              <a:alpha val="12157"/>
            </a:srgbClr>
          </a:solidFill>
          <a:ln cap="flat" cmpd="sng" w="952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6019726" y="3059981"/>
            <a:ext cx="2609924" cy="459057"/>
          </a:xfrm>
          <a:prstGeom prst="rect">
            <a:avLst/>
          </a:prstGeom>
          <a:noFill/>
          <a:ln>
            <a:noFill/>
          </a:ln>
        </p:spPr>
        <p:txBody>
          <a:bodyPr anchorCtr="0" anchor="t" bIns="114300" lIns="142875" spcFirstLastPara="1" rIns="142875" wrap="square" tIns="1143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56"/>
              <a:buFont typeface="Courier New"/>
              <a:buNone/>
            </a:pPr>
            <a:r>
              <a:rPr b="0" i="0" lang="en-US" sz="956" u="none" cap="none" strike="noStrike">
                <a:solidFill>
                  <a:srgbClr val="EF4444"/>
                </a:solidFill>
                <a:latin typeface="Courier New"/>
                <a:ea typeface="Courier New"/>
                <a:cs typeface="Courier New"/>
                <a:sym typeface="Courier New"/>
              </a:rPr>
              <a:t>BLOCK</a:t>
            </a:r>
            <a:endParaRPr b="0" i="0" sz="9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6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/>
          <p:nvPr/>
        </p:nvSpPr>
        <p:spPr>
          <a:xfrm>
            <a:off x="514350" y="457200"/>
            <a:ext cx="7740923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25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3B82F6"/>
                </a:solidFill>
                <a:latin typeface="Courier New"/>
                <a:ea typeface="Courier New"/>
                <a:cs typeface="Courier New"/>
                <a:sym typeface="Courier New"/>
              </a:rPr>
              <a:t>MODEL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8269560" y="457200"/>
            <a:ext cx="5201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25"/>
              </a:lnSpc>
              <a:spcBef>
                <a:spcPts val="0"/>
              </a:spcBef>
              <a:spcAft>
                <a:spcPts val="0"/>
              </a:spcAft>
              <a:buClr>
                <a:srgbClr val="8B95A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B95A5"/>
                </a:solidFill>
                <a:latin typeface="Arial"/>
                <a:ea typeface="Arial"/>
                <a:cs typeface="Arial"/>
                <a:sym typeface="Arial"/>
              </a:rPr>
              <a:t>06 / 09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514350" y="757238"/>
            <a:ext cx="8521065" cy="339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6EAF0"/>
              </a:buClr>
              <a:buSzPts val="2250"/>
              <a:buFont typeface="Carlito"/>
              <a:buNone/>
            </a:pPr>
            <a:r>
              <a:rPr b="1" i="0" lang="en-US" sz="2250" u="none" cap="none" strike="noStrike">
                <a:solidFill>
                  <a:srgbClr val="E6EAF0"/>
                </a:solidFill>
                <a:latin typeface="Carlito"/>
                <a:ea typeface="Carlito"/>
                <a:cs typeface="Carlito"/>
                <a:sym typeface="Carlito"/>
              </a:rPr>
              <a:t>Machine Learning Model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514350" y="1157288"/>
            <a:ext cx="8115300" cy="190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83"/>
              </a:lnSpc>
              <a:spcBef>
                <a:spcPts val="0"/>
              </a:spcBef>
              <a:spcAft>
                <a:spcPts val="0"/>
              </a:spcAft>
              <a:buClr>
                <a:srgbClr val="8B95A5"/>
              </a:buClr>
              <a:buSzPts val="956"/>
              <a:buFont typeface="Carlito"/>
              <a:buNone/>
            </a:pPr>
            <a:r>
              <a:rPr b="0" i="0" lang="en-US" sz="956" u="none" cap="none" strike="noStrike">
                <a:solidFill>
                  <a:srgbClr val="8B95A5"/>
                </a:solidFill>
                <a:latin typeface="Carlito"/>
                <a:ea typeface="Carlito"/>
                <a:cs typeface="Carlito"/>
                <a:sym typeface="Carlito"/>
              </a:rPr>
              <a:t>Trained, optimized, and deployed to run entirely on the user’s device.</a:t>
            </a:r>
            <a:endParaRPr b="0" i="0" sz="9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517922" y="1565486"/>
            <a:ext cx="3964781" cy="1193006"/>
          </a:xfrm>
          <a:prstGeom prst="roundRect">
            <a:avLst>
              <a:gd fmla="val 6387" name="adj"/>
            </a:avLst>
          </a:prstGeom>
          <a:solidFill>
            <a:srgbClr val="1B212B"/>
          </a:solidFill>
          <a:ln cap="flat" cmpd="sng" w="9525">
            <a:solidFill>
              <a:srgbClr val="232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735806" y="1754795"/>
            <a:ext cx="3529013" cy="324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22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238,000+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735806" y="2268475"/>
            <a:ext cx="3529013" cy="158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20"/>
              </a:lnSpc>
              <a:spcBef>
                <a:spcPts val="0"/>
              </a:spcBef>
              <a:spcAft>
                <a:spcPts val="0"/>
              </a:spcAft>
              <a:buClr>
                <a:srgbClr val="E6EAF0"/>
              </a:buClr>
              <a:buSzPts val="956"/>
              <a:buFont typeface="Carlito"/>
              <a:buNone/>
            </a:pPr>
            <a:r>
              <a:rPr b="0" i="0" lang="en-US" sz="956" u="none" cap="none" strike="noStrike">
                <a:solidFill>
                  <a:srgbClr val="E6EAF0"/>
                </a:solidFill>
                <a:latin typeface="Carlito"/>
                <a:ea typeface="Carlito"/>
                <a:cs typeface="Carlito"/>
                <a:sym typeface="Carlito"/>
              </a:rPr>
              <a:t>Dataset</a:t>
            </a:r>
            <a:endParaRPr b="0" i="0" sz="9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735806" y="2454883"/>
            <a:ext cx="3638741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25"/>
              </a:lnSpc>
              <a:spcBef>
                <a:spcPts val="0"/>
              </a:spcBef>
              <a:spcAft>
                <a:spcPts val="0"/>
              </a:spcAft>
              <a:buClr>
                <a:srgbClr val="8B95A5"/>
              </a:buClr>
              <a:buSzPts val="800"/>
              <a:buFont typeface="Carlito"/>
              <a:buNone/>
            </a:pPr>
            <a:r>
              <a:rPr b="0" i="0" lang="en-US" sz="800" u="none" cap="none" strike="noStrike">
                <a:solidFill>
                  <a:srgbClr val="8B95A5"/>
                </a:solidFill>
                <a:latin typeface="Carlito"/>
                <a:ea typeface="Carlito"/>
                <a:cs typeface="Carlito"/>
                <a:sym typeface="Carlito"/>
              </a:rPr>
              <a:t>URLs collected for training and validation.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4661297" y="1565486"/>
            <a:ext cx="3964781" cy="1193006"/>
          </a:xfrm>
          <a:prstGeom prst="roundRect">
            <a:avLst>
              <a:gd fmla="val 6387" name="adj"/>
            </a:avLst>
          </a:prstGeom>
          <a:solidFill>
            <a:srgbClr val="1B212B"/>
          </a:solidFill>
          <a:ln cap="flat" cmpd="sng" w="9525">
            <a:solidFill>
              <a:srgbClr val="232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4879181" y="1754795"/>
            <a:ext cx="3529012" cy="324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22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4879181" y="2268475"/>
            <a:ext cx="3529013" cy="158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20"/>
              </a:lnSpc>
              <a:spcBef>
                <a:spcPts val="0"/>
              </a:spcBef>
              <a:spcAft>
                <a:spcPts val="0"/>
              </a:spcAft>
              <a:buClr>
                <a:srgbClr val="E6EAF0"/>
              </a:buClr>
              <a:buSzPts val="956"/>
              <a:buFont typeface="Carlito"/>
              <a:buNone/>
            </a:pPr>
            <a:r>
              <a:rPr b="0" i="0" lang="en-US" sz="956" u="none" cap="none" strike="noStrike">
                <a:solidFill>
                  <a:srgbClr val="E6EAF0"/>
                </a:solidFill>
                <a:latin typeface="Carlito"/>
                <a:ea typeface="Carlito"/>
                <a:cs typeface="Carlito"/>
                <a:sym typeface="Carlito"/>
              </a:rPr>
              <a:t>Engineered Features</a:t>
            </a:r>
            <a:endParaRPr b="0" i="0" sz="9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4879181" y="2454883"/>
            <a:ext cx="3638740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25"/>
              </a:lnSpc>
              <a:spcBef>
                <a:spcPts val="0"/>
              </a:spcBef>
              <a:spcAft>
                <a:spcPts val="0"/>
              </a:spcAft>
              <a:buClr>
                <a:srgbClr val="8B95A5"/>
              </a:buClr>
              <a:buSzPts val="800"/>
              <a:buFont typeface="Carlito"/>
              <a:buNone/>
            </a:pPr>
            <a:r>
              <a:rPr b="0" i="0" lang="en-US" sz="800" u="none" cap="none" strike="noStrike">
                <a:solidFill>
                  <a:srgbClr val="8B95A5"/>
                </a:solidFill>
                <a:latin typeface="Carlito"/>
                <a:ea typeface="Carlito"/>
                <a:cs typeface="Carlito"/>
                <a:sym typeface="Carlito"/>
              </a:rPr>
              <a:t>Lexical and structural URL characteristics.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517922" y="2937086"/>
            <a:ext cx="3964781" cy="1193006"/>
          </a:xfrm>
          <a:prstGeom prst="roundRect">
            <a:avLst>
              <a:gd fmla="val 6387" name="adj"/>
            </a:avLst>
          </a:prstGeom>
          <a:solidFill>
            <a:srgbClr val="1B212B"/>
          </a:solidFill>
          <a:ln cap="flat" cmpd="sng" w="9525">
            <a:solidFill>
              <a:srgbClr val="232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735806" y="3126395"/>
            <a:ext cx="3529013" cy="324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22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3B82F6"/>
                </a:solidFill>
                <a:latin typeface="Courier New"/>
                <a:ea typeface="Courier New"/>
                <a:cs typeface="Courier New"/>
                <a:sym typeface="Courier New"/>
              </a:rPr>
              <a:t>TensorFlow Lite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735806" y="3640075"/>
            <a:ext cx="3529013" cy="158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20"/>
              </a:lnSpc>
              <a:spcBef>
                <a:spcPts val="0"/>
              </a:spcBef>
              <a:spcAft>
                <a:spcPts val="0"/>
              </a:spcAft>
              <a:buClr>
                <a:srgbClr val="E6EAF0"/>
              </a:buClr>
              <a:buSzPts val="956"/>
              <a:buFont typeface="Carlito"/>
              <a:buNone/>
            </a:pPr>
            <a:r>
              <a:rPr b="0" i="0" lang="en-US" sz="956" u="none" cap="none" strike="noStrike">
                <a:solidFill>
                  <a:srgbClr val="E6EAF0"/>
                </a:solidFill>
                <a:latin typeface="Carlito"/>
                <a:ea typeface="Carlito"/>
                <a:cs typeface="Carlito"/>
                <a:sym typeface="Carlito"/>
              </a:rPr>
              <a:t>Model Runtime</a:t>
            </a:r>
            <a:endParaRPr b="0" i="0" sz="9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735806" y="3826483"/>
            <a:ext cx="3638741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25"/>
              </a:lnSpc>
              <a:spcBef>
                <a:spcPts val="0"/>
              </a:spcBef>
              <a:spcAft>
                <a:spcPts val="0"/>
              </a:spcAft>
              <a:buClr>
                <a:srgbClr val="8B95A5"/>
              </a:buClr>
              <a:buSzPts val="800"/>
              <a:buFont typeface="Carlito"/>
              <a:buNone/>
            </a:pPr>
            <a:r>
              <a:rPr b="0" i="0" lang="en-US" sz="800" u="none" cap="none" strike="noStrike">
                <a:solidFill>
                  <a:srgbClr val="8B95A5"/>
                </a:solidFill>
                <a:latin typeface="Carlito"/>
                <a:ea typeface="Carlito"/>
                <a:cs typeface="Carlito"/>
                <a:sym typeface="Carlito"/>
              </a:rPr>
              <a:t>Quantized model optimized for mobile inference.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4661297" y="2937086"/>
            <a:ext cx="3964781" cy="1193006"/>
          </a:xfrm>
          <a:prstGeom prst="roundRect">
            <a:avLst>
              <a:gd fmla="val 6387" name="adj"/>
            </a:avLst>
          </a:prstGeom>
          <a:solidFill>
            <a:srgbClr val="1B212B"/>
          </a:solidFill>
          <a:ln cap="flat" cmpd="sng" w="9525">
            <a:solidFill>
              <a:srgbClr val="232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4879181" y="3126395"/>
            <a:ext cx="3529013" cy="324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22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100% On-Device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4879181" y="3640075"/>
            <a:ext cx="3529012" cy="158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20"/>
              </a:lnSpc>
              <a:spcBef>
                <a:spcPts val="0"/>
              </a:spcBef>
              <a:spcAft>
                <a:spcPts val="0"/>
              </a:spcAft>
              <a:buClr>
                <a:srgbClr val="E6EAF0"/>
              </a:buClr>
              <a:buSzPts val="956"/>
              <a:buFont typeface="Carlito"/>
              <a:buNone/>
            </a:pPr>
            <a:r>
              <a:rPr b="0" i="0" lang="en-US" sz="956" u="none" cap="none" strike="noStrike">
                <a:solidFill>
                  <a:srgbClr val="E6EAF0"/>
                </a:solidFill>
                <a:latin typeface="Carlito"/>
                <a:ea typeface="Carlito"/>
                <a:cs typeface="Carlito"/>
                <a:sym typeface="Carlito"/>
              </a:rPr>
              <a:t>Execution</a:t>
            </a:r>
            <a:endParaRPr b="0" i="0" sz="9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4879181" y="3826483"/>
            <a:ext cx="3529013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25"/>
              </a:lnSpc>
              <a:spcBef>
                <a:spcPts val="0"/>
              </a:spcBef>
              <a:spcAft>
                <a:spcPts val="0"/>
              </a:spcAft>
              <a:buClr>
                <a:srgbClr val="8B95A5"/>
              </a:buClr>
              <a:buSzPts val="800"/>
              <a:buFont typeface="Carlito"/>
              <a:buNone/>
            </a:pPr>
            <a:r>
              <a:rPr b="0" i="0" lang="en-US" sz="800" u="none" cap="none" strike="noStrike">
                <a:solidFill>
                  <a:srgbClr val="8B95A5"/>
                </a:solidFill>
                <a:latin typeface="Carlito"/>
                <a:ea typeface="Carlito"/>
                <a:cs typeface="Carlito"/>
                <a:sym typeface="Carlito"/>
              </a:rPr>
              <a:t>No network calls, no API dependency, full privacy.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514350" y="4382691"/>
            <a:ext cx="8115300" cy="7144"/>
          </a:xfrm>
          <a:prstGeom prst="rect">
            <a:avLst/>
          </a:prstGeom>
          <a:solidFill>
            <a:srgbClr val="232A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514350" y="4504134"/>
            <a:ext cx="8115300" cy="196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6EAF0"/>
              </a:buClr>
              <a:buSzPts val="956"/>
              <a:buFont typeface="Carlito"/>
              <a:buNone/>
            </a:pPr>
            <a:r>
              <a:rPr b="0" i="0" lang="en-US" sz="956" u="none" cap="none" strike="noStrike">
                <a:solidFill>
                  <a:srgbClr val="E6EAF0"/>
                </a:solidFill>
                <a:latin typeface="Carlito"/>
                <a:ea typeface="Carlito"/>
                <a:cs typeface="Carlito"/>
                <a:sym typeface="Carlito"/>
              </a:rPr>
              <a:t>Risk output is a single float in the range 0 → 1, computed in milliseconds per click.</a:t>
            </a:r>
            <a:endParaRPr b="0" i="0" sz="9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6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/>
          <p:nvPr/>
        </p:nvSpPr>
        <p:spPr>
          <a:xfrm>
            <a:off x="514350" y="457200"/>
            <a:ext cx="7740923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25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3B82F6"/>
                </a:solidFill>
                <a:latin typeface="Courier New"/>
                <a:ea typeface="Courier New"/>
                <a:cs typeface="Courier New"/>
                <a:sym typeface="Courier New"/>
              </a:rPr>
              <a:t>RESULTS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8269560" y="457200"/>
            <a:ext cx="5201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25"/>
              </a:lnSpc>
              <a:spcBef>
                <a:spcPts val="0"/>
              </a:spcBef>
              <a:spcAft>
                <a:spcPts val="0"/>
              </a:spcAft>
              <a:buClr>
                <a:srgbClr val="8B95A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B95A5"/>
                </a:solidFill>
                <a:latin typeface="Arial"/>
                <a:ea typeface="Arial"/>
                <a:cs typeface="Arial"/>
                <a:sym typeface="Arial"/>
              </a:rPr>
              <a:t>07 / 09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514350" y="757238"/>
            <a:ext cx="8629650" cy="339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6EAF0"/>
              </a:buClr>
              <a:buSzPts val="2250"/>
              <a:buFont typeface="Carlito"/>
              <a:buNone/>
            </a:pPr>
            <a:r>
              <a:rPr b="1" i="0" lang="en-US" sz="2250" u="none" cap="none" strike="noStrike">
                <a:solidFill>
                  <a:srgbClr val="E6EAF0"/>
                </a:solidFill>
                <a:latin typeface="Carlito"/>
                <a:ea typeface="Carlito"/>
                <a:cs typeface="Carlito"/>
                <a:sym typeface="Carlito"/>
              </a:rPr>
              <a:t>Model Results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514350" y="1157288"/>
            <a:ext cx="8115300" cy="190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83"/>
              </a:lnSpc>
              <a:spcBef>
                <a:spcPts val="0"/>
              </a:spcBef>
              <a:spcAft>
                <a:spcPts val="0"/>
              </a:spcAft>
              <a:buClr>
                <a:srgbClr val="8B95A5"/>
              </a:buClr>
              <a:buSzPts val="956"/>
              <a:buFont typeface="Carlito"/>
              <a:buNone/>
            </a:pPr>
            <a:r>
              <a:rPr b="0" i="0" lang="en-US" sz="956" u="none" cap="none" strike="noStrike">
                <a:solidFill>
                  <a:srgbClr val="8B95A5"/>
                </a:solidFill>
                <a:latin typeface="Carlito"/>
                <a:ea typeface="Carlito"/>
                <a:cs typeface="Carlito"/>
                <a:sym typeface="Carlito"/>
              </a:rPr>
              <a:t>Clear separation between safe and malicious links across representative inputs.</a:t>
            </a:r>
            <a:endParaRPr b="0" i="0" sz="9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517922" y="1594061"/>
            <a:ext cx="1935956" cy="1550194"/>
          </a:xfrm>
          <a:prstGeom prst="roundRect">
            <a:avLst>
              <a:gd fmla="val 4916" name="adj"/>
            </a:avLst>
          </a:prstGeom>
          <a:solidFill>
            <a:srgbClr val="1B212B"/>
          </a:solidFill>
          <a:ln cap="flat" cmpd="sng" w="9525">
            <a:solidFill>
              <a:srgbClr val="232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521494" y="1597633"/>
            <a:ext cx="1928813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678656" y="1754795"/>
            <a:ext cx="1614488" cy="176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41"/>
              </a:lnSpc>
              <a:spcBef>
                <a:spcPts val="0"/>
              </a:spcBef>
              <a:spcAft>
                <a:spcPts val="0"/>
              </a:spcAft>
              <a:buClr>
                <a:srgbClr val="E6EAF0"/>
              </a:buClr>
              <a:buSzPts val="956"/>
              <a:buFont typeface="Courier New"/>
              <a:buNone/>
            </a:pPr>
            <a:r>
              <a:rPr b="0" i="0" lang="en-US" sz="956" u="none" cap="none" strike="noStrike">
                <a:solidFill>
                  <a:srgbClr val="E6EAF0"/>
                </a:solidFill>
                <a:latin typeface="Courier New"/>
                <a:ea typeface="Courier New"/>
                <a:cs typeface="Courier New"/>
                <a:sym typeface="Courier New"/>
              </a:rPr>
              <a:t>google.com</a:t>
            </a:r>
            <a:endParaRPr b="0" i="0" sz="9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664436" y="2006666"/>
            <a:ext cx="383954" cy="224028"/>
          </a:xfrm>
          <a:prstGeom prst="roundRect">
            <a:avLst>
              <a:gd fmla="val 4247449" name="adj"/>
            </a:avLst>
          </a:prstGeom>
          <a:solidFill>
            <a:srgbClr val="10B981">
              <a:alpha val="1215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678656" y="2018667"/>
            <a:ext cx="35551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625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SAFE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678656" y="2583470"/>
            <a:ext cx="1614488" cy="144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25"/>
              </a:lnSpc>
              <a:spcBef>
                <a:spcPts val="0"/>
              </a:spcBef>
              <a:spcAft>
                <a:spcPts val="0"/>
              </a:spcAft>
              <a:buClr>
                <a:srgbClr val="8B95A5"/>
              </a:buClr>
              <a:buSzPts val="800"/>
              <a:buFont typeface="Carlito"/>
              <a:buNone/>
            </a:pPr>
            <a:r>
              <a:rPr b="0" i="0" lang="en-US" sz="800" u="none" cap="none" strike="noStrike">
                <a:solidFill>
                  <a:srgbClr val="8B95A5"/>
                </a:solidFill>
                <a:latin typeface="Carlito"/>
                <a:ea typeface="Carlito"/>
                <a:cs typeface="Carlito"/>
                <a:sym typeface="Carlito"/>
              </a:rPr>
              <a:t>RISK SCORE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678656" y="2754920"/>
            <a:ext cx="1614488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59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687"/>
              <a:buFont typeface="Arial"/>
              <a:buNone/>
            </a:pPr>
            <a:r>
              <a:rPr b="1" i="0" lang="en-US" sz="1688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0.00002</a:t>
            </a:r>
            <a:endParaRPr b="0" i="0" sz="16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2575322" y="1594061"/>
            <a:ext cx="1935956" cy="1550194"/>
          </a:xfrm>
          <a:prstGeom prst="roundRect">
            <a:avLst>
              <a:gd fmla="val 4916" name="adj"/>
            </a:avLst>
          </a:prstGeom>
          <a:solidFill>
            <a:srgbClr val="1B212B"/>
          </a:solidFill>
          <a:ln cap="flat" cmpd="sng" w="9525">
            <a:solidFill>
              <a:srgbClr val="232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2578894" y="1597633"/>
            <a:ext cx="1928813" cy="2857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2736056" y="1754795"/>
            <a:ext cx="1614487" cy="176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41"/>
              </a:lnSpc>
              <a:spcBef>
                <a:spcPts val="0"/>
              </a:spcBef>
              <a:spcAft>
                <a:spcPts val="0"/>
              </a:spcAft>
              <a:buClr>
                <a:srgbClr val="E6EAF0"/>
              </a:buClr>
              <a:buSzPts val="956"/>
              <a:buFont typeface="Courier New"/>
              <a:buNone/>
            </a:pPr>
            <a:r>
              <a:rPr b="0" i="0" lang="en-US" sz="956" u="none" cap="none" strike="noStrike">
                <a:solidFill>
                  <a:srgbClr val="E6EAF0"/>
                </a:solidFill>
                <a:latin typeface="Courier New"/>
                <a:ea typeface="Courier New"/>
                <a:cs typeface="Courier New"/>
                <a:sym typeface="Courier New"/>
              </a:rPr>
              <a:t>shipaton.com</a:t>
            </a:r>
            <a:endParaRPr b="0" i="0" sz="9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2713330" y="2006666"/>
            <a:ext cx="613603" cy="224028"/>
          </a:xfrm>
          <a:prstGeom prst="roundRect">
            <a:avLst>
              <a:gd fmla="val 4247449" name="adj"/>
            </a:avLst>
          </a:prstGeom>
          <a:solidFill>
            <a:srgbClr val="84CC16">
              <a:alpha val="1215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2725411" y="2018667"/>
            <a:ext cx="58944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625"/>
              </a:lnSpc>
              <a:spcBef>
                <a:spcPts val="0"/>
              </a:spcBef>
              <a:spcAft>
                <a:spcPts val="0"/>
              </a:spcAft>
              <a:buClr>
                <a:srgbClr val="84CC16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84CC16"/>
                </a:solidFill>
                <a:latin typeface="Courier New"/>
                <a:ea typeface="Courier New"/>
                <a:cs typeface="Courier New"/>
                <a:sym typeface="Courier New"/>
              </a:rPr>
              <a:t>LOW RISK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2736056" y="2583470"/>
            <a:ext cx="1614487" cy="144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25"/>
              </a:lnSpc>
              <a:spcBef>
                <a:spcPts val="0"/>
              </a:spcBef>
              <a:spcAft>
                <a:spcPts val="0"/>
              </a:spcAft>
              <a:buClr>
                <a:srgbClr val="8B95A5"/>
              </a:buClr>
              <a:buSzPts val="800"/>
              <a:buFont typeface="Carlito"/>
              <a:buNone/>
            </a:pPr>
            <a:r>
              <a:rPr b="0" i="0" lang="en-US" sz="800" u="none" cap="none" strike="noStrike">
                <a:solidFill>
                  <a:srgbClr val="8B95A5"/>
                </a:solidFill>
                <a:latin typeface="Carlito"/>
                <a:ea typeface="Carlito"/>
                <a:cs typeface="Carlito"/>
                <a:sym typeface="Carlito"/>
              </a:rPr>
              <a:t>RISK SCORE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2736056" y="2754920"/>
            <a:ext cx="1614488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59"/>
              </a:lnSpc>
              <a:spcBef>
                <a:spcPts val="0"/>
              </a:spcBef>
              <a:spcAft>
                <a:spcPts val="0"/>
              </a:spcAft>
              <a:buClr>
                <a:srgbClr val="84CC16"/>
              </a:buClr>
              <a:buSzPts val="1687"/>
              <a:buFont typeface="Arial"/>
              <a:buNone/>
            </a:pPr>
            <a:r>
              <a:rPr b="1" i="0" lang="en-US" sz="1688" u="none" cap="none" strike="noStrike">
                <a:solidFill>
                  <a:srgbClr val="84CC16"/>
                </a:solidFill>
                <a:latin typeface="Arial"/>
                <a:ea typeface="Arial"/>
                <a:cs typeface="Arial"/>
                <a:sym typeface="Arial"/>
              </a:rPr>
              <a:t>0.07</a:t>
            </a:r>
            <a:endParaRPr b="0" i="0" sz="16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4632722" y="1594061"/>
            <a:ext cx="1935956" cy="1550194"/>
          </a:xfrm>
          <a:prstGeom prst="roundRect">
            <a:avLst>
              <a:gd fmla="val 4916" name="adj"/>
            </a:avLst>
          </a:prstGeom>
          <a:solidFill>
            <a:srgbClr val="1B212B"/>
          </a:solidFill>
          <a:ln cap="flat" cmpd="sng" w="9525">
            <a:solidFill>
              <a:srgbClr val="232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4636294" y="1597633"/>
            <a:ext cx="1928813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4793456" y="1754795"/>
            <a:ext cx="1614488" cy="176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41"/>
              </a:lnSpc>
              <a:spcBef>
                <a:spcPts val="0"/>
              </a:spcBef>
              <a:spcAft>
                <a:spcPts val="0"/>
              </a:spcAft>
              <a:buClr>
                <a:srgbClr val="E6EAF0"/>
              </a:buClr>
              <a:buSzPts val="956"/>
              <a:buFont typeface="Courier New"/>
              <a:buNone/>
            </a:pPr>
            <a:r>
              <a:rPr b="0" i="0" lang="en-US" sz="956" u="none" cap="none" strike="noStrike">
                <a:solidFill>
                  <a:srgbClr val="E6EAF0"/>
                </a:solidFill>
                <a:latin typeface="Courier New"/>
                <a:ea typeface="Courier New"/>
                <a:cs typeface="Courier New"/>
                <a:sym typeface="Courier New"/>
              </a:rPr>
              <a:t>example.com/login</a:t>
            </a:r>
            <a:endParaRPr b="0" i="0" sz="9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4770596" y="2006666"/>
            <a:ext cx="720135" cy="224028"/>
          </a:xfrm>
          <a:prstGeom prst="roundRect">
            <a:avLst>
              <a:gd fmla="val 4247449" name="adj"/>
            </a:avLst>
          </a:prstGeom>
          <a:solidFill>
            <a:srgbClr val="F59E0B">
              <a:alpha val="1215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4741231" y="2018667"/>
            <a:ext cx="778866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625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F59E0B"/>
                </a:solidFill>
                <a:latin typeface="Courier New"/>
                <a:ea typeface="Courier New"/>
                <a:cs typeface="Courier New"/>
                <a:sym typeface="Courier New"/>
              </a:rPr>
              <a:t>SUSPICIOUS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4793456" y="2583470"/>
            <a:ext cx="1614487" cy="144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25"/>
              </a:lnSpc>
              <a:spcBef>
                <a:spcPts val="0"/>
              </a:spcBef>
              <a:spcAft>
                <a:spcPts val="0"/>
              </a:spcAft>
              <a:buClr>
                <a:srgbClr val="8B95A5"/>
              </a:buClr>
              <a:buSzPts val="800"/>
              <a:buFont typeface="Carlito"/>
              <a:buNone/>
            </a:pPr>
            <a:r>
              <a:rPr b="0" i="0" lang="en-US" sz="800" u="none" cap="none" strike="noStrike">
                <a:solidFill>
                  <a:srgbClr val="8B95A5"/>
                </a:solidFill>
                <a:latin typeface="Carlito"/>
                <a:ea typeface="Carlito"/>
                <a:cs typeface="Carlito"/>
                <a:sym typeface="Carlito"/>
              </a:rPr>
              <a:t>RISK SCORE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4793456" y="2754920"/>
            <a:ext cx="1614488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59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687"/>
              <a:buFont typeface="Arial"/>
              <a:buNone/>
            </a:pPr>
            <a:r>
              <a:rPr b="1" i="0" lang="en-US" sz="1688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0.49</a:t>
            </a:r>
            <a:endParaRPr b="0" i="0" sz="16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6690122" y="1594061"/>
            <a:ext cx="1935956" cy="1550194"/>
          </a:xfrm>
          <a:prstGeom prst="roundRect">
            <a:avLst>
              <a:gd fmla="val 4916" name="adj"/>
            </a:avLst>
          </a:prstGeom>
          <a:solidFill>
            <a:srgbClr val="1B212B"/>
          </a:solidFill>
          <a:ln cap="flat" cmpd="sng" w="9525">
            <a:solidFill>
              <a:srgbClr val="232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6693694" y="1597633"/>
            <a:ext cx="1928813" cy="2857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6850856" y="1754795"/>
            <a:ext cx="1711357" cy="176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41"/>
              </a:lnSpc>
              <a:spcBef>
                <a:spcPts val="0"/>
              </a:spcBef>
              <a:spcAft>
                <a:spcPts val="0"/>
              </a:spcAft>
              <a:buClr>
                <a:srgbClr val="E6EAF0"/>
              </a:buClr>
              <a:buSzPts val="956"/>
              <a:buFont typeface="Courier New"/>
              <a:buNone/>
            </a:pPr>
            <a:r>
              <a:rPr b="0" i="0" lang="en-US" sz="956" u="none" cap="none" strike="noStrike">
                <a:solidFill>
                  <a:srgbClr val="E6EAF0"/>
                </a:solidFill>
                <a:latin typeface="Courier New"/>
                <a:ea typeface="Courier New"/>
                <a:cs typeface="Courier New"/>
                <a:sym typeface="Courier New"/>
              </a:rPr>
              <a:t>secure-login-google.xyz</a:t>
            </a:r>
            <a:endParaRPr b="0" i="0" sz="9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6827996" y="2006666"/>
            <a:ext cx="667003" cy="224028"/>
          </a:xfrm>
          <a:prstGeom prst="roundRect">
            <a:avLst>
              <a:gd fmla="val 4247449" name="adj"/>
            </a:avLst>
          </a:prstGeom>
          <a:solidFill>
            <a:srgbClr val="EF4444">
              <a:alpha val="1215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6809230" y="2018667"/>
            <a:ext cx="70453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625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EF4444"/>
                </a:solidFill>
                <a:latin typeface="Courier New"/>
                <a:ea typeface="Courier New"/>
                <a:cs typeface="Courier New"/>
                <a:sym typeface="Courier New"/>
              </a:rPr>
              <a:t>DANGEROUS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6850856" y="2583470"/>
            <a:ext cx="1614487" cy="144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25"/>
              </a:lnSpc>
              <a:spcBef>
                <a:spcPts val="0"/>
              </a:spcBef>
              <a:spcAft>
                <a:spcPts val="0"/>
              </a:spcAft>
              <a:buClr>
                <a:srgbClr val="8B95A5"/>
              </a:buClr>
              <a:buSzPts val="800"/>
              <a:buFont typeface="Carlito"/>
              <a:buNone/>
            </a:pPr>
            <a:r>
              <a:rPr b="0" i="0" lang="en-US" sz="800" u="none" cap="none" strike="noStrike">
                <a:solidFill>
                  <a:srgbClr val="8B95A5"/>
                </a:solidFill>
                <a:latin typeface="Carlito"/>
                <a:ea typeface="Carlito"/>
                <a:cs typeface="Carlito"/>
                <a:sym typeface="Carlito"/>
              </a:rPr>
              <a:t>RISK SCORE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6850856" y="2754920"/>
            <a:ext cx="1614488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59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687"/>
              <a:buFont typeface="Arial"/>
              <a:buNone/>
            </a:pPr>
            <a:r>
              <a:rPr b="1" i="0" lang="en-US" sz="1688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1.00</a:t>
            </a:r>
            <a:endParaRPr b="0" i="0" sz="16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514350" y="4382691"/>
            <a:ext cx="8115300" cy="7144"/>
          </a:xfrm>
          <a:prstGeom prst="rect">
            <a:avLst/>
          </a:prstGeom>
          <a:solidFill>
            <a:srgbClr val="232A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514350" y="4504134"/>
            <a:ext cx="8115300" cy="196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6EAF0"/>
              </a:buClr>
              <a:buSzPts val="956"/>
              <a:buFont typeface="Carlito"/>
              <a:buNone/>
            </a:pPr>
            <a:r>
              <a:rPr b="0" i="0" lang="en-US" sz="956" u="none" cap="none" strike="noStrike">
                <a:solidFill>
                  <a:srgbClr val="E6EAF0"/>
                </a:solidFill>
                <a:latin typeface="Carlito"/>
                <a:ea typeface="Carlito"/>
                <a:cs typeface="Carlito"/>
                <a:sym typeface="Carlito"/>
              </a:rPr>
              <a:t>The model confidently separates trusted domains from lookalike and credential-harvesting URLs.</a:t>
            </a:r>
            <a:endParaRPr b="0" i="0" sz="9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6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"/>
          <p:cNvSpPr/>
          <p:nvPr/>
        </p:nvSpPr>
        <p:spPr>
          <a:xfrm>
            <a:off x="514350" y="457200"/>
            <a:ext cx="7740923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25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3B82F6"/>
                </a:solidFill>
                <a:latin typeface="Courier New"/>
                <a:ea typeface="Courier New"/>
                <a:cs typeface="Courier New"/>
                <a:sym typeface="Courier New"/>
              </a:rPr>
              <a:t>FEATURES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8269560" y="457200"/>
            <a:ext cx="5201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25"/>
              </a:lnSpc>
              <a:spcBef>
                <a:spcPts val="0"/>
              </a:spcBef>
              <a:spcAft>
                <a:spcPts val="0"/>
              </a:spcAft>
              <a:buClr>
                <a:srgbClr val="8B95A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B95A5"/>
                </a:solidFill>
                <a:latin typeface="Arial"/>
                <a:ea typeface="Arial"/>
                <a:cs typeface="Arial"/>
                <a:sym typeface="Arial"/>
              </a:rPr>
              <a:t>08 / 09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514350" y="757238"/>
            <a:ext cx="8521065" cy="339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6EAF0"/>
              </a:buClr>
              <a:buSzPts val="2250"/>
              <a:buFont typeface="Carlito"/>
              <a:buNone/>
            </a:pPr>
            <a:r>
              <a:rPr b="1" i="0" lang="en-US" sz="2250" u="none" cap="none" strike="noStrike">
                <a:solidFill>
                  <a:srgbClr val="E6EAF0"/>
                </a:solidFill>
                <a:latin typeface="Carlito"/>
                <a:ea typeface="Carlito"/>
                <a:cs typeface="Carlito"/>
                <a:sym typeface="Carlito"/>
              </a:rPr>
              <a:t>Key Features &amp; Advantages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514350" y="1157288"/>
            <a:ext cx="8115300" cy="190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83"/>
              </a:lnSpc>
              <a:spcBef>
                <a:spcPts val="0"/>
              </a:spcBef>
              <a:spcAft>
                <a:spcPts val="0"/>
              </a:spcAft>
              <a:buClr>
                <a:srgbClr val="8B95A5"/>
              </a:buClr>
              <a:buSzPts val="956"/>
              <a:buFont typeface="Carlito"/>
              <a:buNone/>
            </a:pPr>
            <a:r>
              <a:rPr b="0" i="0" lang="en-US" sz="956" u="none" cap="none" strike="noStrike">
                <a:solidFill>
                  <a:srgbClr val="8B95A5"/>
                </a:solidFill>
                <a:latin typeface="Carlito"/>
                <a:ea typeface="Carlito"/>
                <a:cs typeface="Carlito"/>
                <a:sym typeface="Carlito"/>
              </a:rPr>
              <a:t>What makes Sentinel AI different from existing anti-phishing solutions.</a:t>
            </a:r>
            <a:endParaRPr b="0" i="0" sz="9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517922" y="1565486"/>
            <a:ext cx="2564606" cy="2907506"/>
          </a:xfrm>
          <a:prstGeom prst="roundRect">
            <a:avLst>
              <a:gd fmla="val 2971" name="adj"/>
            </a:avLst>
          </a:prstGeom>
          <a:solidFill>
            <a:srgbClr val="1B212B"/>
          </a:solidFill>
          <a:ln cap="flat" cmpd="sng" w="9525">
            <a:solidFill>
              <a:srgbClr val="232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521494" y="1569058"/>
            <a:ext cx="2557463" cy="142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721519" y="1754795"/>
            <a:ext cx="21574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25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721519" y="1969108"/>
            <a:ext cx="2157413" cy="220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67"/>
              </a:lnSpc>
              <a:spcBef>
                <a:spcPts val="0"/>
              </a:spcBef>
              <a:spcAft>
                <a:spcPts val="0"/>
              </a:spcAft>
              <a:buClr>
                <a:srgbClr val="E6EAF0"/>
              </a:buClr>
              <a:buSzPts val="1238"/>
              <a:buFont typeface="Carlito"/>
              <a:buNone/>
            </a:pPr>
            <a:r>
              <a:rPr b="0" i="0" lang="en-US" sz="1238" u="none" cap="none" strike="noStrike">
                <a:solidFill>
                  <a:srgbClr val="E6EAF0"/>
                </a:solidFill>
                <a:latin typeface="Carlito"/>
                <a:ea typeface="Carlito"/>
                <a:cs typeface="Carlito"/>
                <a:sym typeface="Carlito"/>
              </a:rPr>
              <a:t>Click-time Protection</a:t>
            </a:r>
            <a:endParaRPr b="0" i="0" sz="12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721519" y="2287674"/>
            <a:ext cx="2157413" cy="629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41"/>
              </a:lnSpc>
              <a:spcBef>
                <a:spcPts val="0"/>
              </a:spcBef>
              <a:spcAft>
                <a:spcPts val="0"/>
              </a:spcAft>
              <a:buClr>
                <a:srgbClr val="8B95A5"/>
              </a:buClr>
              <a:buSzPts val="956"/>
              <a:buFont typeface="Carlito"/>
              <a:buNone/>
            </a:pPr>
            <a:r>
              <a:rPr b="0" i="0" lang="en-US" sz="956" u="none" cap="none" strike="noStrike">
                <a:solidFill>
                  <a:srgbClr val="8B95A5"/>
                </a:solidFill>
                <a:latin typeface="Carlito"/>
                <a:ea typeface="Carlito"/>
                <a:cs typeface="Carlito"/>
                <a:sym typeface="Carlito"/>
              </a:rPr>
              <a:t>Intercepts URLs the instant the user taps a link — threats are blocked before any page loads, not after.</a:t>
            </a:r>
            <a:endParaRPr b="0" i="0" sz="9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721519" y="4269395"/>
            <a:ext cx="342900" cy="142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3232547" y="1565486"/>
            <a:ext cx="2621756" cy="1378744"/>
          </a:xfrm>
          <a:prstGeom prst="roundRect">
            <a:avLst>
              <a:gd fmla="val 5527" name="adj"/>
            </a:avLst>
          </a:prstGeom>
          <a:solidFill>
            <a:srgbClr val="1B212B"/>
          </a:solidFill>
          <a:ln cap="flat" cmpd="sng" w="9525">
            <a:solidFill>
              <a:srgbClr val="232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3436144" y="1754795"/>
            <a:ext cx="2214563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25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3436144" y="1969108"/>
            <a:ext cx="2214563" cy="220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67"/>
              </a:lnSpc>
              <a:spcBef>
                <a:spcPts val="0"/>
              </a:spcBef>
              <a:spcAft>
                <a:spcPts val="0"/>
              </a:spcAft>
              <a:buClr>
                <a:srgbClr val="E6EAF0"/>
              </a:buClr>
              <a:buSzPts val="1238"/>
              <a:buFont typeface="Carlito"/>
              <a:buNone/>
            </a:pPr>
            <a:r>
              <a:rPr b="0" i="0" lang="en-US" sz="1238" u="none" cap="none" strike="noStrike">
                <a:solidFill>
                  <a:srgbClr val="E6EAF0"/>
                </a:solidFill>
                <a:latin typeface="Carlito"/>
                <a:ea typeface="Carlito"/>
                <a:cs typeface="Carlito"/>
                <a:sym typeface="Carlito"/>
              </a:rPr>
              <a:t>Notification Scanning</a:t>
            </a:r>
            <a:endParaRPr b="0" i="0" sz="12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3436144" y="2259099"/>
            <a:ext cx="2214563" cy="3400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50"/>
              </a:lnSpc>
              <a:spcBef>
                <a:spcPts val="0"/>
              </a:spcBef>
              <a:spcAft>
                <a:spcPts val="0"/>
              </a:spcAft>
              <a:buClr>
                <a:srgbClr val="8B95A5"/>
              </a:buClr>
              <a:buSzPts val="800"/>
              <a:buFont typeface="Carlito"/>
              <a:buNone/>
            </a:pPr>
            <a:r>
              <a:rPr b="0" i="0" lang="en-US" sz="800" u="none" cap="none" strike="noStrike">
                <a:solidFill>
                  <a:srgbClr val="8B95A5"/>
                </a:solidFill>
                <a:latin typeface="Carlito"/>
                <a:ea typeface="Carlito"/>
                <a:cs typeface="Carlito"/>
                <a:sym typeface="Carlito"/>
              </a:rPr>
              <a:t>Scans URLs embedded in notifications, not just browser clicks.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6004322" y="1565486"/>
            <a:ext cx="2621756" cy="1378744"/>
          </a:xfrm>
          <a:prstGeom prst="roundRect">
            <a:avLst>
              <a:gd fmla="val 5527" name="adj"/>
            </a:avLst>
          </a:prstGeom>
          <a:solidFill>
            <a:srgbClr val="1B212B"/>
          </a:solidFill>
          <a:ln cap="flat" cmpd="sng" w="9525">
            <a:solidFill>
              <a:srgbClr val="232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6207919" y="1754795"/>
            <a:ext cx="2214563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25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6207919" y="1969108"/>
            <a:ext cx="2214563" cy="220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67"/>
              </a:lnSpc>
              <a:spcBef>
                <a:spcPts val="0"/>
              </a:spcBef>
              <a:spcAft>
                <a:spcPts val="0"/>
              </a:spcAft>
              <a:buClr>
                <a:srgbClr val="E6EAF0"/>
              </a:buClr>
              <a:buSzPts val="1238"/>
              <a:buFont typeface="Carlito"/>
              <a:buNone/>
            </a:pPr>
            <a:r>
              <a:rPr b="0" i="0" lang="en-US" sz="1238" u="none" cap="none" strike="noStrike">
                <a:solidFill>
                  <a:srgbClr val="E6EAF0"/>
                </a:solidFill>
                <a:latin typeface="Carlito"/>
                <a:ea typeface="Carlito"/>
                <a:cs typeface="Carlito"/>
                <a:sym typeface="Carlito"/>
              </a:rPr>
              <a:t>Offline Functionality</a:t>
            </a:r>
            <a:endParaRPr b="0" i="0" sz="12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6207919" y="2259099"/>
            <a:ext cx="2214563" cy="170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962"/>
              </a:lnSpc>
              <a:spcBef>
                <a:spcPts val="0"/>
              </a:spcBef>
              <a:spcAft>
                <a:spcPts val="0"/>
              </a:spcAft>
              <a:buClr>
                <a:srgbClr val="8B95A5"/>
              </a:buClr>
              <a:buSzPts val="675"/>
              <a:buFont typeface="Carlito"/>
              <a:buNone/>
            </a:pPr>
            <a:r>
              <a:rPr b="0" i="0" lang="en-US" sz="675" u="none" cap="none" strike="noStrike">
                <a:solidFill>
                  <a:srgbClr val="8B95A5"/>
                </a:solidFill>
                <a:latin typeface="Carlito"/>
                <a:ea typeface="Carlito"/>
                <a:cs typeface="Carlito"/>
                <a:sym typeface="Carlito"/>
              </a:rPr>
              <a:t>Full inference with no internet connection required.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3232547" y="3094248"/>
            <a:ext cx="2621756" cy="1378744"/>
          </a:xfrm>
          <a:prstGeom prst="roundRect">
            <a:avLst>
              <a:gd fmla="val 5527" name="adj"/>
            </a:avLst>
          </a:prstGeom>
          <a:solidFill>
            <a:srgbClr val="1B212B"/>
          </a:solidFill>
          <a:ln cap="flat" cmpd="sng" w="9525">
            <a:solidFill>
              <a:srgbClr val="232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3436144" y="3283558"/>
            <a:ext cx="2214563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25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3436144" y="3497870"/>
            <a:ext cx="2214563" cy="220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67"/>
              </a:lnSpc>
              <a:spcBef>
                <a:spcPts val="0"/>
              </a:spcBef>
              <a:spcAft>
                <a:spcPts val="0"/>
              </a:spcAft>
              <a:buClr>
                <a:srgbClr val="E6EAF0"/>
              </a:buClr>
              <a:buSzPts val="1238"/>
              <a:buFont typeface="Carlito"/>
              <a:buNone/>
            </a:pPr>
            <a:r>
              <a:rPr b="0" i="0" lang="en-US" sz="1238" u="none" cap="none" strike="noStrike">
                <a:solidFill>
                  <a:srgbClr val="E6EAF0"/>
                </a:solidFill>
                <a:latin typeface="Carlito"/>
                <a:ea typeface="Carlito"/>
                <a:cs typeface="Carlito"/>
                <a:sym typeface="Carlito"/>
              </a:rPr>
              <a:t>Privacy-First Design</a:t>
            </a:r>
            <a:endParaRPr b="0" i="0" sz="12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3436144" y="3787862"/>
            <a:ext cx="2214563" cy="170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962"/>
              </a:lnSpc>
              <a:spcBef>
                <a:spcPts val="0"/>
              </a:spcBef>
              <a:spcAft>
                <a:spcPts val="0"/>
              </a:spcAft>
              <a:buClr>
                <a:srgbClr val="8B95A5"/>
              </a:buClr>
              <a:buSzPts val="675"/>
              <a:buFont typeface="Carlito"/>
              <a:buNone/>
            </a:pPr>
            <a:r>
              <a:rPr b="0" i="0" lang="en-US" sz="675" u="none" cap="none" strike="noStrike">
                <a:solidFill>
                  <a:srgbClr val="8B95A5"/>
                </a:solidFill>
                <a:latin typeface="Carlito"/>
                <a:ea typeface="Carlito"/>
                <a:cs typeface="Carlito"/>
                <a:sym typeface="Carlito"/>
              </a:rPr>
              <a:t>URLs never leave the device — zero data exfiltration.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6004322" y="3094248"/>
            <a:ext cx="2621756" cy="1378744"/>
          </a:xfrm>
          <a:prstGeom prst="roundRect">
            <a:avLst>
              <a:gd fmla="val 5527" name="adj"/>
            </a:avLst>
          </a:prstGeom>
          <a:solidFill>
            <a:srgbClr val="1B212B"/>
          </a:solidFill>
          <a:ln cap="flat" cmpd="sng" w="9525">
            <a:solidFill>
              <a:srgbClr val="232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6207919" y="3283558"/>
            <a:ext cx="2214563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25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6207919" y="3497870"/>
            <a:ext cx="2214563" cy="220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67"/>
              </a:lnSpc>
              <a:spcBef>
                <a:spcPts val="0"/>
              </a:spcBef>
              <a:spcAft>
                <a:spcPts val="0"/>
              </a:spcAft>
              <a:buClr>
                <a:srgbClr val="E6EAF0"/>
              </a:buClr>
              <a:buSzPts val="1238"/>
              <a:buFont typeface="Carlito"/>
              <a:buNone/>
            </a:pPr>
            <a:r>
              <a:rPr b="0" i="0" lang="en-US" sz="1238" u="none" cap="none" strike="noStrike">
                <a:solidFill>
                  <a:srgbClr val="E6EAF0"/>
                </a:solidFill>
                <a:latin typeface="Carlito"/>
                <a:ea typeface="Carlito"/>
                <a:cs typeface="Carlito"/>
                <a:sym typeface="Carlito"/>
              </a:rPr>
              <a:t>No API Dependency</a:t>
            </a:r>
            <a:endParaRPr b="0" i="0" sz="12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6207919" y="3787862"/>
            <a:ext cx="2214563" cy="3400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50"/>
              </a:lnSpc>
              <a:spcBef>
                <a:spcPts val="0"/>
              </a:spcBef>
              <a:spcAft>
                <a:spcPts val="0"/>
              </a:spcAft>
              <a:buClr>
                <a:srgbClr val="8B95A5"/>
              </a:buClr>
              <a:buSzPts val="800"/>
              <a:buFont typeface="Carlito"/>
              <a:buNone/>
            </a:pPr>
            <a:r>
              <a:rPr b="0" i="0" lang="en-US" sz="800" u="none" cap="none" strike="noStrike">
                <a:solidFill>
                  <a:srgbClr val="8B95A5"/>
                </a:solidFill>
                <a:latin typeface="Carlito"/>
                <a:ea typeface="Carlito"/>
                <a:cs typeface="Carlito"/>
                <a:sym typeface="Carlito"/>
              </a:rPr>
              <a:t>No external service calls; immune to API outages or rate limits.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6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"/>
          <p:cNvSpPr/>
          <p:nvPr/>
        </p:nvSpPr>
        <p:spPr>
          <a:xfrm>
            <a:off x="514350" y="457200"/>
            <a:ext cx="7740923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25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3B82F6"/>
                </a:solidFill>
                <a:latin typeface="Courier New"/>
                <a:ea typeface="Courier New"/>
                <a:cs typeface="Courier New"/>
                <a:sym typeface="Courier New"/>
              </a:rPr>
              <a:t>CONCLUSION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8269560" y="457200"/>
            <a:ext cx="5201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25"/>
              </a:lnSpc>
              <a:spcBef>
                <a:spcPts val="0"/>
              </a:spcBef>
              <a:spcAft>
                <a:spcPts val="0"/>
              </a:spcAft>
              <a:buClr>
                <a:srgbClr val="8B95A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B95A5"/>
                </a:solidFill>
                <a:latin typeface="Arial"/>
                <a:ea typeface="Arial"/>
                <a:cs typeface="Arial"/>
                <a:sym typeface="Arial"/>
              </a:rPr>
              <a:t>09 / 09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514350" y="757238"/>
            <a:ext cx="8521065" cy="339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6EAF0"/>
              </a:buClr>
              <a:buSzPts val="2250"/>
              <a:buFont typeface="Carlito"/>
              <a:buNone/>
            </a:pPr>
            <a:r>
              <a:rPr b="1" i="0" lang="en-US" sz="2250" u="none" cap="none" strike="noStrike">
                <a:solidFill>
                  <a:srgbClr val="E6EAF0"/>
                </a:solidFill>
                <a:latin typeface="Carlito"/>
                <a:ea typeface="Carlito"/>
                <a:cs typeface="Carlito"/>
                <a:sym typeface="Carlito"/>
              </a:rPr>
              <a:t>Conclusion &amp; Impact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514350" y="1157288"/>
            <a:ext cx="8115300" cy="190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83"/>
              </a:lnSpc>
              <a:spcBef>
                <a:spcPts val="0"/>
              </a:spcBef>
              <a:spcAft>
                <a:spcPts val="0"/>
              </a:spcAft>
              <a:buClr>
                <a:srgbClr val="8B95A5"/>
              </a:buClr>
              <a:buSzPts val="956"/>
              <a:buFont typeface="Carlito"/>
              <a:buNone/>
            </a:pPr>
            <a:r>
              <a:rPr b="0" i="0" lang="en-US" sz="956" u="none" cap="none" strike="noStrike">
                <a:solidFill>
                  <a:srgbClr val="8B95A5"/>
                </a:solidFill>
                <a:latin typeface="Carlito"/>
                <a:ea typeface="Carlito"/>
                <a:cs typeface="Carlito"/>
                <a:sym typeface="Carlito"/>
              </a:rPr>
              <a:t>Sentinel AI demonstrates practical, deployable on-device ML for real-world scam prevention.</a:t>
            </a:r>
            <a:endParaRPr b="0" i="0" sz="9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517922" y="1594061"/>
            <a:ext cx="1935956" cy="1550194"/>
          </a:xfrm>
          <a:prstGeom prst="roundRect">
            <a:avLst>
              <a:gd fmla="val 4916" name="adj"/>
            </a:avLst>
          </a:prstGeom>
          <a:solidFill>
            <a:srgbClr val="1B212B"/>
          </a:solidFill>
          <a:ln cap="flat" cmpd="sng" w="9525">
            <a:solidFill>
              <a:srgbClr val="232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692944" y="1783370"/>
            <a:ext cx="1585913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25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692944" y="2011970"/>
            <a:ext cx="1585913" cy="441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67"/>
              </a:lnSpc>
              <a:spcBef>
                <a:spcPts val="0"/>
              </a:spcBef>
              <a:spcAft>
                <a:spcPts val="0"/>
              </a:spcAft>
              <a:buClr>
                <a:srgbClr val="E6EAF0"/>
              </a:buClr>
              <a:buSzPts val="1238"/>
              <a:buFont typeface="Carlito"/>
              <a:buNone/>
            </a:pPr>
            <a:r>
              <a:rPr b="0" i="0" lang="en-US" sz="1238" u="none" cap="none" strike="noStrike">
                <a:solidFill>
                  <a:srgbClr val="E6EAF0"/>
                </a:solidFill>
                <a:latin typeface="Carlito"/>
                <a:ea typeface="Carlito"/>
                <a:cs typeface="Carlito"/>
                <a:sym typeface="Carlito"/>
              </a:rPr>
              <a:t>Prevents scams before interaction.</a:t>
            </a:r>
            <a:endParaRPr b="0" i="0" sz="12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692944" y="2520516"/>
            <a:ext cx="1585913" cy="434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20"/>
              </a:lnSpc>
              <a:spcBef>
                <a:spcPts val="0"/>
              </a:spcBef>
              <a:spcAft>
                <a:spcPts val="0"/>
              </a:spcAft>
              <a:buClr>
                <a:srgbClr val="8B95A5"/>
              </a:buClr>
              <a:buSzPts val="956"/>
              <a:buFont typeface="Carlito"/>
              <a:buNone/>
            </a:pPr>
            <a:r>
              <a:rPr b="0" i="0" lang="en-US" sz="956" u="none" cap="none" strike="noStrike">
                <a:solidFill>
                  <a:srgbClr val="8B95A5"/>
                </a:solidFill>
                <a:latin typeface="Carlito"/>
                <a:ea typeface="Carlito"/>
                <a:cs typeface="Carlito"/>
                <a:sym typeface="Carlito"/>
              </a:rPr>
              <a:t>Blocks malicious links at click-time, ahead of any damage.</a:t>
            </a:r>
            <a:endParaRPr b="0" i="0" sz="9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2575322" y="1594061"/>
            <a:ext cx="1935956" cy="1550194"/>
          </a:xfrm>
          <a:prstGeom prst="roundRect">
            <a:avLst>
              <a:gd fmla="val 4916" name="adj"/>
            </a:avLst>
          </a:prstGeom>
          <a:solidFill>
            <a:srgbClr val="1B212B"/>
          </a:solidFill>
          <a:ln cap="flat" cmpd="sng" w="9525">
            <a:solidFill>
              <a:srgbClr val="232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2750344" y="1783370"/>
            <a:ext cx="1585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25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2750344" y="2011970"/>
            <a:ext cx="1585912" cy="220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67"/>
              </a:lnSpc>
              <a:spcBef>
                <a:spcPts val="0"/>
              </a:spcBef>
              <a:spcAft>
                <a:spcPts val="0"/>
              </a:spcAft>
              <a:buClr>
                <a:srgbClr val="E6EAF0"/>
              </a:buClr>
              <a:buSzPts val="1238"/>
              <a:buFont typeface="Carlito"/>
              <a:buNone/>
            </a:pPr>
            <a:r>
              <a:rPr b="0" i="0" lang="en-US" sz="1238" u="none" cap="none" strike="noStrike">
                <a:solidFill>
                  <a:srgbClr val="E6EAF0"/>
                </a:solidFill>
                <a:latin typeface="Carlito"/>
                <a:ea typeface="Carlito"/>
                <a:cs typeface="Carlito"/>
                <a:sym typeface="Carlito"/>
              </a:rPr>
              <a:t>Works without internet.</a:t>
            </a:r>
            <a:endParaRPr b="0" i="0" sz="12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2750344" y="2316249"/>
            <a:ext cx="1585913" cy="406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20"/>
              </a:lnSpc>
              <a:spcBef>
                <a:spcPts val="0"/>
              </a:spcBef>
              <a:spcAft>
                <a:spcPts val="0"/>
              </a:spcAft>
              <a:buClr>
                <a:srgbClr val="8B95A5"/>
              </a:buClr>
              <a:buSzPts val="956"/>
              <a:buFont typeface="Carlito"/>
              <a:buNone/>
            </a:pPr>
            <a:r>
              <a:rPr b="0" i="0" lang="en-US" sz="956" u="none" cap="none" strike="noStrike">
                <a:solidFill>
                  <a:srgbClr val="8B95A5"/>
                </a:solidFill>
                <a:latin typeface="Carlito"/>
                <a:ea typeface="Carlito"/>
                <a:cs typeface="Carlito"/>
                <a:sym typeface="Carlito"/>
              </a:rPr>
              <a:t>Full on-device inference; functional offline.</a:t>
            </a:r>
            <a:endParaRPr b="0" i="0" sz="9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4632722" y="1594061"/>
            <a:ext cx="1935956" cy="1550194"/>
          </a:xfrm>
          <a:prstGeom prst="roundRect">
            <a:avLst>
              <a:gd fmla="val 4916" name="adj"/>
            </a:avLst>
          </a:prstGeom>
          <a:solidFill>
            <a:srgbClr val="1B212B"/>
          </a:solidFill>
          <a:ln cap="flat" cmpd="sng" w="9525">
            <a:solidFill>
              <a:srgbClr val="232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4807744" y="1783370"/>
            <a:ext cx="1585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25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4807744" y="2011970"/>
            <a:ext cx="1585912" cy="220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67"/>
              </a:lnSpc>
              <a:spcBef>
                <a:spcPts val="0"/>
              </a:spcBef>
              <a:spcAft>
                <a:spcPts val="0"/>
              </a:spcAft>
              <a:buClr>
                <a:srgbClr val="E6EAF0"/>
              </a:buClr>
              <a:buSzPts val="1238"/>
              <a:buFont typeface="Carlito"/>
              <a:buNone/>
            </a:pPr>
            <a:r>
              <a:rPr b="0" i="0" lang="en-US" sz="1238" u="none" cap="none" strike="noStrike">
                <a:solidFill>
                  <a:srgbClr val="E6EAF0"/>
                </a:solidFill>
                <a:latin typeface="Carlito"/>
                <a:ea typeface="Carlito"/>
                <a:cs typeface="Carlito"/>
                <a:sym typeface="Carlito"/>
              </a:rPr>
              <a:t>Protects user privacy.</a:t>
            </a:r>
            <a:endParaRPr b="0" i="0" sz="12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4807744" y="2316249"/>
            <a:ext cx="1585913" cy="406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20"/>
              </a:lnSpc>
              <a:spcBef>
                <a:spcPts val="0"/>
              </a:spcBef>
              <a:spcAft>
                <a:spcPts val="0"/>
              </a:spcAft>
              <a:buClr>
                <a:srgbClr val="8B95A5"/>
              </a:buClr>
              <a:buSzPts val="956"/>
              <a:buFont typeface="Carlito"/>
              <a:buNone/>
            </a:pPr>
            <a:r>
              <a:rPr b="0" i="0" lang="en-US" sz="956" u="none" cap="none" strike="noStrike">
                <a:solidFill>
                  <a:srgbClr val="8B95A5"/>
                </a:solidFill>
                <a:latin typeface="Carlito"/>
                <a:ea typeface="Carlito"/>
                <a:cs typeface="Carlito"/>
                <a:sym typeface="Carlito"/>
              </a:rPr>
              <a:t>URLs and features never leave the device.</a:t>
            </a:r>
            <a:endParaRPr b="0" i="0" sz="9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6690122" y="1594061"/>
            <a:ext cx="1935956" cy="1550194"/>
          </a:xfrm>
          <a:prstGeom prst="roundRect">
            <a:avLst>
              <a:gd fmla="val 4916" name="adj"/>
            </a:avLst>
          </a:prstGeom>
          <a:solidFill>
            <a:srgbClr val="1B212B"/>
          </a:solidFill>
          <a:ln cap="flat" cmpd="sng" w="9525">
            <a:solidFill>
              <a:srgbClr val="232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6865144" y="1783370"/>
            <a:ext cx="1585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25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6865144" y="2011970"/>
            <a:ext cx="1585913" cy="441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967"/>
              </a:lnSpc>
              <a:spcBef>
                <a:spcPts val="0"/>
              </a:spcBef>
              <a:spcAft>
                <a:spcPts val="0"/>
              </a:spcAft>
              <a:buClr>
                <a:srgbClr val="E6EAF0"/>
              </a:buClr>
              <a:buSzPts val="1238"/>
              <a:buFont typeface="Carlito"/>
              <a:buNone/>
            </a:pPr>
            <a:r>
              <a:rPr b="0" i="0" lang="en-US" sz="1238" u="none" cap="none" strike="noStrike">
                <a:solidFill>
                  <a:srgbClr val="E6EAF0"/>
                </a:solidFill>
                <a:latin typeface="Carlito"/>
                <a:ea typeface="Carlito"/>
                <a:cs typeface="Carlito"/>
                <a:sym typeface="Carlito"/>
              </a:rPr>
              <a:t>Demonstrates practical on-device ML.</a:t>
            </a:r>
            <a:endParaRPr b="0" i="0" sz="12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6865144" y="2520516"/>
            <a:ext cx="1585913" cy="406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20"/>
              </a:lnSpc>
              <a:spcBef>
                <a:spcPts val="0"/>
              </a:spcBef>
              <a:spcAft>
                <a:spcPts val="0"/>
              </a:spcAft>
              <a:buClr>
                <a:srgbClr val="8B95A5"/>
              </a:buClr>
              <a:buSzPts val="956"/>
              <a:buFont typeface="Carlito"/>
              <a:buNone/>
            </a:pPr>
            <a:r>
              <a:rPr b="0" i="0" lang="en-US" sz="956" u="none" cap="none" strike="noStrike">
                <a:solidFill>
                  <a:srgbClr val="8B95A5"/>
                </a:solidFill>
                <a:latin typeface="Carlito"/>
                <a:ea typeface="Carlito"/>
                <a:cs typeface="Carlito"/>
                <a:sym typeface="Carlito"/>
              </a:rPr>
              <a:t>238K URLs, 15 features, TFLite — production-ready.</a:t>
            </a:r>
            <a:endParaRPr b="0" i="0" sz="9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514350" y="4303440"/>
            <a:ext cx="8115300" cy="7144"/>
          </a:xfrm>
          <a:prstGeom prst="rect">
            <a:avLst/>
          </a:prstGeom>
          <a:solidFill>
            <a:srgbClr val="232A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514350" y="4482033"/>
            <a:ext cx="8115300" cy="220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9967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238"/>
              <a:buFont typeface="Carlito"/>
              <a:buNone/>
            </a:pPr>
            <a:r>
              <a:rPr b="0" i="0" lang="en-US" sz="1238" u="none" cap="none" strike="noStrike">
                <a:solidFill>
                  <a:srgbClr val="3B82F6"/>
                </a:solidFill>
                <a:latin typeface="Carlito"/>
                <a:ea typeface="Carlito"/>
                <a:cs typeface="Carlito"/>
                <a:sym typeface="Carlito"/>
              </a:rPr>
              <a:t>Real-time prevention, fully offline, privacy-first.</a:t>
            </a:r>
            <a:endParaRPr b="0" i="0" sz="12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